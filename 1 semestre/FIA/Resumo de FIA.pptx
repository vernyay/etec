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90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52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1391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66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091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868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40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85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12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94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25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688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590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6094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942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4CC37B30-054B-4E2D-B0B7-74D156F4FCCC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FD8B896B-61F7-4ABD-A648-33045F03E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415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Resumo de FIA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Resumo sobre todo as aulas de FIA com o prof.ª Victor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076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49782" y="516461"/>
            <a:ext cx="11534400" cy="970450"/>
          </a:xfrm>
        </p:spPr>
        <p:txBody>
          <a:bodyPr/>
          <a:lstStyle/>
          <a:p>
            <a:r>
              <a:rPr lang="pt-BR" dirty="0" smtClean="0"/>
              <a:t>1. Fundamentos da Informática e Aplicativos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Evolução </a:t>
            </a:r>
            <a:r>
              <a:rPr lang="pt-BR" dirty="0" smtClean="0"/>
              <a:t>da Informática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1ª </a:t>
            </a:r>
            <a:r>
              <a:rPr lang="pt-BR" dirty="0" smtClean="0"/>
              <a:t>Geração (1940 </a:t>
            </a:r>
            <a:r>
              <a:rPr lang="pt-BR" dirty="0"/>
              <a:t>– 1956</a:t>
            </a:r>
            <a:r>
              <a:rPr lang="pt-BR" dirty="0" smtClean="0"/>
              <a:t>): Válvulas </a:t>
            </a:r>
            <a:r>
              <a:rPr lang="pt-BR" dirty="0"/>
              <a:t>eletrônicas</a:t>
            </a:r>
            <a:endParaRPr lang="pt-BR" dirty="0" smtClean="0"/>
          </a:p>
          <a:p>
            <a:r>
              <a:rPr lang="pt-BR" dirty="0"/>
              <a:t>2ª </a:t>
            </a:r>
            <a:r>
              <a:rPr lang="pt-BR" dirty="0" smtClean="0"/>
              <a:t>Geração (1956 </a:t>
            </a:r>
            <a:r>
              <a:rPr lang="pt-BR" dirty="0"/>
              <a:t>– 1963): Transistores </a:t>
            </a:r>
            <a:endParaRPr lang="pt-BR" dirty="0" smtClean="0"/>
          </a:p>
          <a:p>
            <a:r>
              <a:rPr lang="pt-BR" dirty="0" smtClean="0"/>
              <a:t>3ª Geração (1964 </a:t>
            </a:r>
            <a:r>
              <a:rPr lang="pt-BR" dirty="0"/>
              <a:t>– 1971): Circuitos integrados</a:t>
            </a:r>
            <a:endParaRPr lang="pt-BR" dirty="0" smtClean="0"/>
          </a:p>
          <a:p>
            <a:r>
              <a:rPr lang="pt-BR" dirty="0"/>
              <a:t>4ª </a:t>
            </a:r>
            <a:r>
              <a:rPr lang="pt-BR" dirty="0" smtClean="0"/>
              <a:t>Geração (1971 </a:t>
            </a:r>
            <a:r>
              <a:rPr lang="pt-BR" dirty="0"/>
              <a:t>– atual</a:t>
            </a:r>
            <a:r>
              <a:rPr lang="pt-BR" dirty="0" smtClean="0"/>
              <a:t>): Microprocessadores</a:t>
            </a:r>
            <a:endParaRPr lang="pt-BR" dirty="0"/>
          </a:p>
        </p:txBody>
      </p:sp>
      <p:pic>
        <p:nvPicPr>
          <p:cNvPr id="12" name="Espaço Reservado para Conteúdo 11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0654" y="2751138"/>
            <a:ext cx="4809142" cy="3109912"/>
          </a:xfrm>
          <a:prstGeom prst="rect">
            <a:avLst/>
          </a:prstGeom>
          <a:noFill/>
          <a:effectLst>
            <a:outerShdw blurRad="50800" dir="14400000">
              <a:srgbClr val="000000">
                <a:alpha val="40000"/>
              </a:srgbClr>
            </a:outerShdw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4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ço Reservado para Texto 22"/>
          <p:cNvSpPr>
            <a:spLocks noGrp="1"/>
          </p:cNvSpPr>
          <p:nvPr>
            <p:ph type="body" idx="1"/>
          </p:nvPr>
        </p:nvSpPr>
        <p:spPr>
          <a:xfrm>
            <a:off x="191271" y="2302812"/>
            <a:ext cx="5189857" cy="576262"/>
          </a:xfrm>
        </p:spPr>
        <p:txBody>
          <a:bodyPr/>
          <a:lstStyle/>
          <a:p>
            <a:r>
              <a:rPr lang="pt-BR" dirty="0"/>
              <a:t>O que é Hardware?</a:t>
            </a:r>
          </a:p>
        </p:txBody>
      </p:sp>
      <p:sp>
        <p:nvSpPr>
          <p:cNvPr id="24" name="Espaço Reservado para Conteúdo 23"/>
          <p:cNvSpPr>
            <a:spLocks noGrp="1"/>
          </p:cNvSpPr>
          <p:nvPr>
            <p:ph sz="half" idx="2"/>
          </p:nvPr>
        </p:nvSpPr>
        <p:spPr>
          <a:xfrm>
            <a:off x="658183" y="3277611"/>
            <a:ext cx="4256035" cy="3109913"/>
          </a:xfrm>
        </p:spPr>
        <p:txBody>
          <a:bodyPr/>
          <a:lstStyle/>
          <a:p>
            <a:r>
              <a:rPr lang="pt-BR" dirty="0"/>
              <a:t>Parte física do </a:t>
            </a:r>
            <a:r>
              <a:rPr lang="pt-BR" dirty="0" smtClean="0"/>
              <a:t>computador</a:t>
            </a:r>
          </a:p>
          <a:p>
            <a:pPr lvl="1"/>
            <a:r>
              <a:rPr lang="pt-BR" dirty="0" smtClean="0"/>
              <a:t>Como: Mouse, CPU, Placa de Vídeo e etc.</a:t>
            </a:r>
            <a:endParaRPr lang="pt-BR" dirty="0"/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3"/>
          </p:nvPr>
        </p:nvSpPr>
        <p:spPr>
          <a:xfrm>
            <a:off x="6903529" y="2302812"/>
            <a:ext cx="5194583" cy="576262"/>
          </a:xfrm>
        </p:spPr>
        <p:txBody>
          <a:bodyPr/>
          <a:lstStyle/>
          <a:p>
            <a:r>
              <a:rPr lang="pt-BR" dirty="0"/>
              <a:t>O que é Software?</a:t>
            </a:r>
          </a:p>
        </p:txBody>
      </p:sp>
      <p:sp>
        <p:nvSpPr>
          <p:cNvPr id="26" name="Espaço Reservado para Conteúdo 25"/>
          <p:cNvSpPr>
            <a:spLocks noGrp="1"/>
          </p:cNvSpPr>
          <p:nvPr>
            <p:ph sz="quarter" idx="4"/>
          </p:nvPr>
        </p:nvSpPr>
        <p:spPr>
          <a:xfrm>
            <a:off x="7627673" y="3261085"/>
            <a:ext cx="3746294" cy="3109913"/>
          </a:xfrm>
        </p:spPr>
        <p:txBody>
          <a:bodyPr/>
          <a:lstStyle/>
          <a:p>
            <a:r>
              <a:rPr lang="pt-BR" dirty="0"/>
              <a:t>Parte </a:t>
            </a:r>
            <a:r>
              <a:rPr lang="pt-BR" dirty="0" smtClean="0"/>
              <a:t>lógica</a:t>
            </a:r>
          </a:p>
          <a:p>
            <a:pPr lvl="1"/>
            <a:r>
              <a:rPr lang="pt-BR" dirty="0"/>
              <a:t>Conjunto de </a:t>
            </a:r>
            <a:r>
              <a:rPr lang="pt-BR" dirty="0" smtClean="0"/>
              <a:t>programas</a:t>
            </a:r>
          </a:p>
          <a:p>
            <a:pPr lvl="1"/>
            <a:r>
              <a:rPr lang="pt-BR" dirty="0"/>
              <a:t>Instruções que </a:t>
            </a:r>
            <a:r>
              <a:rPr lang="pt-BR" dirty="0" smtClean="0"/>
              <a:t>dizem ao </a:t>
            </a:r>
            <a:r>
              <a:rPr lang="pt-BR" dirty="0"/>
              <a:t>hardware o </a:t>
            </a:r>
            <a:r>
              <a:rPr lang="pt-BR" dirty="0" smtClean="0"/>
              <a:t>que fazer</a:t>
            </a:r>
            <a:endParaRPr lang="pt-BR" dirty="0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965" y="1842654"/>
            <a:ext cx="3570071" cy="357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5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597039" y="2610214"/>
            <a:ext cx="6357943" cy="3636511"/>
          </a:xfrm>
        </p:spPr>
        <p:txBody>
          <a:bodyPr>
            <a:normAutofit/>
          </a:bodyPr>
          <a:lstStyle/>
          <a:p>
            <a:r>
              <a:rPr lang="pt-BR" dirty="0" err="1" smtClean="0"/>
              <a:t>Placa-mãe</a:t>
            </a:r>
            <a:r>
              <a:rPr lang="pt-BR" dirty="0" smtClean="0"/>
              <a:t>: O que conecta todos os componentes</a:t>
            </a:r>
            <a:endParaRPr lang="pt-BR" dirty="0"/>
          </a:p>
          <a:p>
            <a:endParaRPr lang="pt-BR" dirty="0"/>
          </a:p>
          <a:p>
            <a:r>
              <a:rPr lang="pt-BR" dirty="0"/>
              <a:t>Processador (CPU): 'Cérebro' do computador</a:t>
            </a:r>
          </a:p>
          <a:p>
            <a:endParaRPr lang="pt-BR" dirty="0"/>
          </a:p>
          <a:p>
            <a:r>
              <a:rPr lang="pt-BR" dirty="0"/>
              <a:t>Memória RAM</a:t>
            </a:r>
            <a:r>
              <a:rPr lang="pt-BR" dirty="0" smtClean="0"/>
              <a:t>: Armazena dados temporariamente</a:t>
            </a:r>
            <a:endParaRPr lang="pt-BR" dirty="0"/>
          </a:p>
          <a:p>
            <a:endParaRPr lang="pt-BR" dirty="0"/>
          </a:p>
          <a:p>
            <a:r>
              <a:rPr lang="pt-BR" dirty="0"/>
              <a:t>HD / SSD: Guarda sistema e arquivos</a:t>
            </a:r>
          </a:p>
          <a:p>
            <a:endParaRPr lang="pt-BR" dirty="0"/>
          </a:p>
          <a:p>
            <a:r>
              <a:rPr lang="pt-BR" dirty="0" smtClean="0"/>
              <a:t>Fonte: Energiza a máquina</a:t>
            </a:r>
            <a:endParaRPr lang="pt-BR" dirty="0"/>
          </a:p>
        </p:txBody>
      </p:sp>
      <p:sp>
        <p:nvSpPr>
          <p:cNvPr id="9" name="Espaço Reservado para Texto 22"/>
          <p:cNvSpPr txBox="1">
            <a:spLocks/>
          </p:cNvSpPr>
          <p:nvPr/>
        </p:nvSpPr>
        <p:spPr>
          <a:xfrm>
            <a:off x="597039" y="2033952"/>
            <a:ext cx="5189857" cy="57626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 smtClean="0"/>
              <a:t>Componentes Internos</a:t>
            </a:r>
            <a:endParaRPr lang="pt-BR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284" y="2033952"/>
            <a:ext cx="4646468" cy="458037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59517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597039" y="2610214"/>
            <a:ext cx="10554574" cy="3636511"/>
          </a:xfrm>
        </p:spPr>
        <p:txBody>
          <a:bodyPr>
            <a:normAutofit/>
          </a:bodyPr>
          <a:lstStyle/>
          <a:p>
            <a:r>
              <a:rPr lang="pt-BR" dirty="0"/>
              <a:t>Gerenciar hardware</a:t>
            </a:r>
          </a:p>
          <a:p>
            <a:endParaRPr lang="pt-BR" dirty="0"/>
          </a:p>
          <a:p>
            <a:r>
              <a:rPr lang="pt-BR" dirty="0"/>
              <a:t>Gerenciar arquivos</a:t>
            </a:r>
          </a:p>
          <a:p>
            <a:endParaRPr lang="pt-BR" dirty="0"/>
          </a:p>
          <a:p>
            <a:r>
              <a:rPr lang="pt-BR" dirty="0"/>
              <a:t>Executar programas</a:t>
            </a:r>
          </a:p>
        </p:txBody>
      </p:sp>
      <p:sp>
        <p:nvSpPr>
          <p:cNvPr id="9" name="Espaço Reservado para Texto 22"/>
          <p:cNvSpPr txBox="1">
            <a:spLocks/>
          </p:cNvSpPr>
          <p:nvPr/>
        </p:nvSpPr>
        <p:spPr>
          <a:xfrm>
            <a:off x="597039" y="2155787"/>
            <a:ext cx="5189857" cy="57626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Sistema Operacional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732049"/>
            <a:ext cx="6483134" cy="339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2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49781" y="516461"/>
            <a:ext cx="8458691" cy="970450"/>
          </a:xfrm>
        </p:spPr>
        <p:txBody>
          <a:bodyPr/>
          <a:lstStyle/>
          <a:p>
            <a:r>
              <a:rPr lang="pt-BR" dirty="0"/>
              <a:t>2</a:t>
            </a:r>
            <a:r>
              <a:rPr lang="pt-BR" dirty="0" smtClean="0"/>
              <a:t>. Sistemas Operacionais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6661346" y="2360596"/>
            <a:ext cx="5189857" cy="576262"/>
          </a:xfrm>
        </p:spPr>
        <p:txBody>
          <a:bodyPr/>
          <a:lstStyle/>
          <a:p>
            <a:r>
              <a:rPr lang="pt-BR" dirty="0"/>
              <a:t>ULA – Unidade </a:t>
            </a:r>
            <a:r>
              <a:rPr lang="pt-BR" dirty="0" smtClean="0"/>
              <a:t>Lógica Aritmética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2"/>
          </p:nvPr>
        </p:nvSpPr>
        <p:spPr>
          <a:xfrm>
            <a:off x="6661347" y="2936859"/>
            <a:ext cx="5189856" cy="3109913"/>
          </a:xfrm>
        </p:spPr>
        <p:txBody>
          <a:bodyPr>
            <a:normAutofit fontScale="92500"/>
          </a:bodyPr>
          <a:lstStyle/>
          <a:p>
            <a:r>
              <a:rPr lang="pt-BR" dirty="0"/>
              <a:t>Parte do processador </a:t>
            </a:r>
            <a:r>
              <a:rPr lang="pt-BR" dirty="0" smtClean="0"/>
              <a:t>responsável pelos </a:t>
            </a:r>
            <a:r>
              <a:rPr lang="pt-BR" dirty="0"/>
              <a:t>cálculos</a:t>
            </a:r>
          </a:p>
          <a:p>
            <a:endParaRPr lang="pt-BR" dirty="0"/>
          </a:p>
          <a:p>
            <a:r>
              <a:rPr lang="pt-BR" dirty="0"/>
              <a:t>Executa operações matemáticas </a:t>
            </a:r>
            <a:r>
              <a:rPr lang="pt-BR" dirty="0" smtClean="0"/>
              <a:t>e lógicas</a:t>
            </a:r>
            <a:endParaRPr lang="pt-BR" dirty="0"/>
          </a:p>
          <a:p>
            <a:endParaRPr lang="pt-BR" dirty="0"/>
          </a:p>
          <a:p>
            <a:r>
              <a:rPr lang="pt-BR" dirty="0"/>
              <a:t>Trabalha diretamente com </a:t>
            </a:r>
            <a:r>
              <a:rPr lang="pt-BR" dirty="0" smtClean="0"/>
              <a:t>dados binários</a:t>
            </a:r>
            <a:endParaRPr lang="pt-BR" dirty="0"/>
          </a:p>
          <a:p>
            <a:endParaRPr lang="pt-BR" dirty="0"/>
          </a:p>
          <a:p>
            <a:r>
              <a:rPr lang="pt-BR" dirty="0"/>
              <a:t>É essencial para o </a:t>
            </a:r>
            <a:r>
              <a:rPr lang="pt-BR" dirty="0" smtClean="0"/>
              <a:t>funcionamento da </a:t>
            </a:r>
            <a:r>
              <a:rPr lang="pt-BR" dirty="0"/>
              <a:t>CPU</a:t>
            </a:r>
          </a:p>
        </p:txBody>
      </p:sp>
      <p:pic>
        <p:nvPicPr>
          <p:cNvPr id="3" name="Espaço Reservado para Conteúdo 2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27" y="2360596"/>
            <a:ext cx="4608933" cy="3500455"/>
          </a:xfrm>
        </p:spPr>
      </p:pic>
    </p:spTree>
    <p:extLst>
      <p:ext uri="{BB962C8B-B14F-4D97-AF65-F5344CB8AC3E}">
        <p14:creationId xmlns:p14="http://schemas.microsoft.com/office/powerpoint/2010/main" val="205942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6776167" y="2606128"/>
            <a:ext cx="5189857" cy="3636511"/>
          </a:xfrm>
        </p:spPr>
        <p:txBody>
          <a:bodyPr>
            <a:normAutofit/>
          </a:bodyPr>
          <a:lstStyle/>
          <a:p>
            <a:r>
              <a:rPr lang="pt-BR" dirty="0"/>
              <a:t>Pequenas memórias internas da CPU</a:t>
            </a:r>
          </a:p>
          <a:p>
            <a:endParaRPr lang="pt-BR" dirty="0"/>
          </a:p>
          <a:p>
            <a:r>
              <a:rPr lang="pt-BR" dirty="0"/>
              <a:t>Extremamente rápidas</a:t>
            </a:r>
          </a:p>
          <a:p>
            <a:endParaRPr lang="pt-BR" dirty="0"/>
          </a:p>
          <a:p>
            <a:r>
              <a:rPr lang="pt-BR" dirty="0"/>
              <a:t>Armazenam dados temporários</a:t>
            </a:r>
          </a:p>
          <a:p>
            <a:endParaRPr lang="pt-BR" dirty="0"/>
          </a:p>
          <a:p>
            <a:r>
              <a:rPr lang="pt-BR" dirty="0"/>
              <a:t>Trabalham diretamente com a ULA</a:t>
            </a:r>
          </a:p>
        </p:txBody>
      </p:sp>
      <p:sp>
        <p:nvSpPr>
          <p:cNvPr id="9" name="Espaço Reservado para Texto 22"/>
          <p:cNvSpPr txBox="1">
            <a:spLocks/>
          </p:cNvSpPr>
          <p:nvPr/>
        </p:nvSpPr>
        <p:spPr>
          <a:xfrm>
            <a:off x="6776167" y="2029866"/>
            <a:ext cx="5189857" cy="57626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Registradores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41" y="2317997"/>
            <a:ext cx="3546735" cy="417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3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241193" y="2174874"/>
            <a:ext cx="4436145" cy="576262"/>
          </a:xfrm>
        </p:spPr>
        <p:txBody>
          <a:bodyPr/>
          <a:lstStyle/>
          <a:p>
            <a:r>
              <a:rPr lang="pt-BR" dirty="0"/>
              <a:t>Cache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2"/>
          </p:nvPr>
        </p:nvSpPr>
        <p:spPr>
          <a:xfrm>
            <a:off x="241193" y="2751135"/>
            <a:ext cx="4671671" cy="3109913"/>
          </a:xfrm>
        </p:spPr>
        <p:txBody>
          <a:bodyPr>
            <a:normAutofit/>
          </a:bodyPr>
          <a:lstStyle/>
          <a:p>
            <a:r>
              <a:rPr lang="pt-BR" dirty="0"/>
              <a:t>Memória </a:t>
            </a:r>
            <a:r>
              <a:rPr lang="pt-BR" dirty="0" smtClean="0"/>
              <a:t>Cache</a:t>
            </a:r>
            <a:endParaRPr lang="pt-BR" dirty="0"/>
          </a:p>
          <a:p>
            <a:pPr lvl="1"/>
            <a:r>
              <a:rPr lang="pt-BR" dirty="0"/>
              <a:t>Memória intermediária entre CPU </a:t>
            </a:r>
            <a:r>
              <a:rPr lang="pt-BR" dirty="0" smtClean="0"/>
              <a:t>e RAM</a:t>
            </a:r>
            <a:endParaRPr lang="pt-BR" dirty="0"/>
          </a:p>
          <a:p>
            <a:pPr lvl="1"/>
            <a:r>
              <a:rPr lang="pt-BR" dirty="0"/>
              <a:t>Mais rápida que a </a:t>
            </a:r>
            <a:r>
              <a:rPr lang="pt-BR" dirty="0" smtClean="0"/>
              <a:t>RAM</a:t>
            </a:r>
            <a:endParaRPr lang="pt-BR" dirty="0"/>
          </a:p>
          <a:p>
            <a:pPr lvl="1"/>
            <a:r>
              <a:rPr lang="pt-BR" dirty="0"/>
              <a:t>Armazena dados mais utilizados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6845995" y="2174875"/>
            <a:ext cx="4634834" cy="576262"/>
          </a:xfrm>
        </p:spPr>
        <p:txBody>
          <a:bodyPr/>
          <a:lstStyle/>
          <a:p>
            <a:r>
              <a:rPr lang="pt-BR" dirty="0"/>
              <a:t>Unidade </a:t>
            </a:r>
            <a:r>
              <a:rPr lang="pt-BR" dirty="0" smtClean="0"/>
              <a:t>de Controle</a:t>
            </a:r>
            <a:endParaRPr lang="pt-BR" dirty="0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4"/>
          </p:nvPr>
        </p:nvSpPr>
        <p:spPr>
          <a:xfrm>
            <a:off x="6944826" y="2751136"/>
            <a:ext cx="4536003" cy="3109913"/>
          </a:xfrm>
        </p:spPr>
        <p:txBody>
          <a:bodyPr/>
          <a:lstStyle/>
          <a:p>
            <a:r>
              <a:rPr lang="pt-BR" dirty="0"/>
              <a:t>Unidade de </a:t>
            </a:r>
            <a:r>
              <a:rPr lang="pt-BR" dirty="0" smtClean="0"/>
              <a:t>Controle</a:t>
            </a:r>
            <a:endParaRPr lang="pt-BR" dirty="0"/>
          </a:p>
          <a:p>
            <a:pPr lvl="1"/>
            <a:r>
              <a:rPr lang="pt-BR" dirty="0"/>
              <a:t>Parte da CPU que coordena </a:t>
            </a:r>
            <a:r>
              <a:rPr lang="pt-BR" dirty="0" smtClean="0"/>
              <a:t>tudo</a:t>
            </a:r>
            <a:endParaRPr lang="pt-BR" dirty="0"/>
          </a:p>
          <a:p>
            <a:pPr lvl="1"/>
            <a:r>
              <a:rPr lang="pt-BR" dirty="0"/>
              <a:t>Interpreta instruções do </a:t>
            </a:r>
            <a:r>
              <a:rPr lang="pt-BR" dirty="0" smtClean="0"/>
              <a:t>programa</a:t>
            </a:r>
            <a:endParaRPr lang="pt-BR" dirty="0"/>
          </a:p>
          <a:p>
            <a:pPr lvl="1"/>
            <a:r>
              <a:rPr lang="pt-BR" dirty="0"/>
              <a:t>Controla fluxo de execução</a:t>
            </a:r>
          </a:p>
        </p:txBody>
      </p:sp>
      <p:pic>
        <p:nvPicPr>
          <p:cNvPr id="16" name="Imagem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2" t="6397" r="3247" b="6068"/>
          <a:stretch/>
        </p:blipFill>
        <p:spPr>
          <a:xfrm>
            <a:off x="3789325" y="4544290"/>
            <a:ext cx="4151937" cy="206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8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5612384" y="2679486"/>
            <a:ext cx="6579616" cy="3636511"/>
          </a:xfrm>
        </p:spPr>
        <p:txBody>
          <a:bodyPr>
            <a:normAutofit/>
          </a:bodyPr>
          <a:lstStyle/>
          <a:p>
            <a:r>
              <a:rPr lang="pt-BR" dirty="0"/>
              <a:t>Software fundamental </a:t>
            </a:r>
            <a:r>
              <a:rPr lang="pt-BR" dirty="0" smtClean="0"/>
              <a:t>do sistema</a:t>
            </a:r>
            <a:endParaRPr lang="pt-BR" dirty="0"/>
          </a:p>
          <a:p>
            <a:endParaRPr lang="pt-BR" dirty="0"/>
          </a:p>
          <a:p>
            <a:r>
              <a:rPr lang="pt-BR" dirty="0"/>
              <a:t>Responsável por </a:t>
            </a:r>
            <a:r>
              <a:rPr lang="pt-BR" dirty="0" smtClean="0"/>
              <a:t>gerenciar recursos</a:t>
            </a:r>
            <a:endParaRPr lang="pt-BR" dirty="0"/>
          </a:p>
          <a:p>
            <a:endParaRPr lang="pt-BR" dirty="0"/>
          </a:p>
          <a:p>
            <a:r>
              <a:rPr lang="pt-BR" dirty="0"/>
              <a:t>Permite interação </a:t>
            </a:r>
            <a:r>
              <a:rPr lang="pt-BR" dirty="0" smtClean="0"/>
              <a:t>entre usuário </a:t>
            </a:r>
            <a:r>
              <a:rPr lang="pt-BR" dirty="0"/>
              <a:t>e hardware</a:t>
            </a:r>
          </a:p>
          <a:p>
            <a:endParaRPr lang="pt-BR" dirty="0"/>
          </a:p>
          <a:p>
            <a:r>
              <a:rPr lang="pt-BR" dirty="0"/>
              <a:t>Contextualização prática </a:t>
            </a:r>
            <a:r>
              <a:rPr lang="pt-BR" dirty="0" smtClean="0"/>
              <a:t>no ambiente </a:t>
            </a:r>
            <a:r>
              <a:rPr lang="pt-BR" dirty="0"/>
              <a:t>profissional</a:t>
            </a:r>
          </a:p>
          <a:p>
            <a:endParaRPr lang="pt-BR" dirty="0"/>
          </a:p>
          <a:p>
            <a:r>
              <a:rPr lang="pt-BR" dirty="0"/>
              <a:t>Exemplos aplicados </a:t>
            </a:r>
            <a:r>
              <a:rPr lang="pt-BR" dirty="0" smtClean="0"/>
              <a:t>ao cotidiano </a:t>
            </a:r>
            <a:r>
              <a:rPr lang="pt-BR" dirty="0"/>
              <a:t>do usuário</a:t>
            </a:r>
          </a:p>
        </p:txBody>
      </p:sp>
      <p:sp>
        <p:nvSpPr>
          <p:cNvPr id="9" name="Espaço Reservado para Texto 22"/>
          <p:cNvSpPr txBox="1">
            <a:spLocks/>
          </p:cNvSpPr>
          <p:nvPr/>
        </p:nvSpPr>
        <p:spPr>
          <a:xfrm>
            <a:off x="5612384" y="2103224"/>
            <a:ext cx="5189857" cy="57626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O que é </a:t>
            </a:r>
            <a:r>
              <a:rPr lang="pt-BR" dirty="0" smtClean="0"/>
              <a:t>um Sistema Operacional</a:t>
            </a:r>
            <a:r>
              <a:rPr lang="pt-BR" dirty="0"/>
              <a:t>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438" y="2391355"/>
            <a:ext cx="65341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7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597039" y="2610214"/>
            <a:ext cx="5485106" cy="3636511"/>
          </a:xfrm>
        </p:spPr>
        <p:txBody>
          <a:bodyPr>
            <a:normAutofit/>
          </a:bodyPr>
          <a:lstStyle/>
          <a:p>
            <a:r>
              <a:rPr lang="pt-BR" dirty="0"/>
              <a:t>Gerenciamento de </a:t>
            </a:r>
            <a:r>
              <a:rPr lang="pt-BR" dirty="0" smtClean="0"/>
              <a:t>Processos</a:t>
            </a:r>
          </a:p>
          <a:p>
            <a:endParaRPr lang="pt-BR" dirty="0"/>
          </a:p>
          <a:p>
            <a:r>
              <a:rPr lang="pt-BR" dirty="0"/>
              <a:t>Gerenciamento de </a:t>
            </a:r>
            <a:r>
              <a:rPr lang="pt-BR" dirty="0" smtClean="0"/>
              <a:t>Memória</a:t>
            </a:r>
          </a:p>
          <a:p>
            <a:endParaRPr lang="pt-BR" dirty="0"/>
          </a:p>
          <a:p>
            <a:r>
              <a:rPr lang="pt-BR" dirty="0"/>
              <a:t>Gerenciamento de </a:t>
            </a:r>
            <a:r>
              <a:rPr lang="pt-BR" dirty="0" smtClean="0"/>
              <a:t>Arquivos</a:t>
            </a:r>
          </a:p>
          <a:p>
            <a:endParaRPr lang="pt-BR" dirty="0"/>
          </a:p>
          <a:p>
            <a:r>
              <a:rPr lang="pt-BR" dirty="0"/>
              <a:t>Gerenciamento de </a:t>
            </a:r>
            <a:r>
              <a:rPr lang="pt-BR" dirty="0" smtClean="0"/>
              <a:t>Dispositivos</a:t>
            </a:r>
            <a:endParaRPr lang="pt-BR" dirty="0"/>
          </a:p>
        </p:txBody>
      </p:sp>
      <p:sp>
        <p:nvSpPr>
          <p:cNvPr id="9" name="Espaço Reservado para Texto 22"/>
          <p:cNvSpPr txBox="1">
            <a:spLocks/>
          </p:cNvSpPr>
          <p:nvPr/>
        </p:nvSpPr>
        <p:spPr>
          <a:xfrm>
            <a:off x="597039" y="2033952"/>
            <a:ext cx="5189857" cy="57626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Funções Principais do SO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900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597039" y="2610214"/>
            <a:ext cx="10554574" cy="3636511"/>
          </a:xfrm>
        </p:spPr>
        <p:txBody>
          <a:bodyPr>
            <a:normAutofit/>
          </a:bodyPr>
          <a:lstStyle/>
          <a:p>
            <a:r>
              <a:rPr lang="pt-BR" dirty="0" err="1" smtClean="0"/>
              <a:t>Placa-mãe</a:t>
            </a:r>
            <a:r>
              <a:rPr lang="pt-BR" dirty="0" smtClean="0"/>
              <a:t>: O que conecta todos os componentes</a:t>
            </a:r>
            <a:endParaRPr lang="pt-BR" dirty="0"/>
          </a:p>
          <a:p>
            <a:endParaRPr lang="pt-BR" dirty="0"/>
          </a:p>
          <a:p>
            <a:r>
              <a:rPr lang="pt-BR" dirty="0"/>
              <a:t>Processador (CPU): 'Cérebro' do computador</a:t>
            </a:r>
          </a:p>
          <a:p>
            <a:endParaRPr lang="pt-BR" dirty="0"/>
          </a:p>
          <a:p>
            <a:r>
              <a:rPr lang="pt-BR" dirty="0"/>
              <a:t>Memória RAM</a:t>
            </a:r>
            <a:r>
              <a:rPr lang="pt-BR" dirty="0" smtClean="0"/>
              <a:t>: Armazena dados temporariamente</a:t>
            </a:r>
            <a:endParaRPr lang="pt-BR" dirty="0"/>
          </a:p>
          <a:p>
            <a:endParaRPr lang="pt-BR" dirty="0"/>
          </a:p>
          <a:p>
            <a:r>
              <a:rPr lang="pt-BR" dirty="0"/>
              <a:t>HD / SSD: Guarda sistema e arquivos</a:t>
            </a:r>
          </a:p>
          <a:p>
            <a:endParaRPr lang="pt-BR" dirty="0"/>
          </a:p>
          <a:p>
            <a:r>
              <a:rPr lang="pt-BR" dirty="0" smtClean="0"/>
              <a:t>Fonte: Energiza a máquina</a:t>
            </a:r>
            <a:endParaRPr lang="pt-BR" dirty="0"/>
          </a:p>
        </p:txBody>
      </p:sp>
      <p:sp>
        <p:nvSpPr>
          <p:cNvPr id="9" name="Espaço Reservado para Texto 22"/>
          <p:cNvSpPr txBox="1">
            <a:spLocks/>
          </p:cNvSpPr>
          <p:nvPr/>
        </p:nvSpPr>
        <p:spPr>
          <a:xfrm>
            <a:off x="597039" y="2033952"/>
            <a:ext cx="5189857" cy="57626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 smtClean="0"/>
              <a:t>Componentes Internos</a:t>
            </a:r>
            <a:endParaRPr lang="pt-BR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284" y="2033952"/>
            <a:ext cx="4646468" cy="458037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21165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idx="1"/>
          </p:nvPr>
        </p:nvSpPr>
        <p:spPr>
          <a:xfrm>
            <a:off x="597039" y="2610214"/>
            <a:ext cx="10554574" cy="3636511"/>
          </a:xfrm>
        </p:spPr>
        <p:txBody>
          <a:bodyPr>
            <a:normAutofit/>
          </a:bodyPr>
          <a:lstStyle/>
          <a:p>
            <a:r>
              <a:rPr lang="pt-BR" dirty="0" err="1" smtClean="0"/>
              <a:t>Placa-mãe</a:t>
            </a:r>
            <a:r>
              <a:rPr lang="pt-BR" dirty="0" smtClean="0"/>
              <a:t>: O que conecta todos os componentes</a:t>
            </a:r>
            <a:endParaRPr lang="pt-BR" dirty="0"/>
          </a:p>
          <a:p>
            <a:endParaRPr lang="pt-BR" dirty="0"/>
          </a:p>
          <a:p>
            <a:r>
              <a:rPr lang="pt-BR" dirty="0"/>
              <a:t>Processador (CPU): 'Cérebro' do computador</a:t>
            </a:r>
          </a:p>
          <a:p>
            <a:endParaRPr lang="pt-BR" dirty="0"/>
          </a:p>
          <a:p>
            <a:r>
              <a:rPr lang="pt-BR" dirty="0"/>
              <a:t>Memória RAM</a:t>
            </a:r>
            <a:r>
              <a:rPr lang="pt-BR" dirty="0" smtClean="0"/>
              <a:t>: Armazena dados temporariamente</a:t>
            </a:r>
            <a:endParaRPr lang="pt-BR" dirty="0"/>
          </a:p>
          <a:p>
            <a:endParaRPr lang="pt-BR" dirty="0"/>
          </a:p>
          <a:p>
            <a:r>
              <a:rPr lang="pt-BR" dirty="0"/>
              <a:t>HD / SSD: Guarda sistema e arquivos</a:t>
            </a:r>
          </a:p>
          <a:p>
            <a:endParaRPr lang="pt-BR" dirty="0"/>
          </a:p>
          <a:p>
            <a:r>
              <a:rPr lang="pt-BR" dirty="0" smtClean="0"/>
              <a:t>Fonte: Energiza a máquina</a:t>
            </a:r>
            <a:endParaRPr lang="pt-BR" dirty="0"/>
          </a:p>
        </p:txBody>
      </p:sp>
      <p:sp>
        <p:nvSpPr>
          <p:cNvPr id="9" name="Espaço Reservado para Texto 22"/>
          <p:cNvSpPr txBox="1">
            <a:spLocks/>
          </p:cNvSpPr>
          <p:nvPr/>
        </p:nvSpPr>
        <p:spPr>
          <a:xfrm>
            <a:off x="597039" y="2033952"/>
            <a:ext cx="5189857" cy="57626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 smtClean="0"/>
              <a:t>Componentes Internos</a:t>
            </a:r>
            <a:endParaRPr lang="pt-BR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284" y="2033952"/>
            <a:ext cx="4646468" cy="4580374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79259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vel">
  <a:themeElements>
    <a:clrScheme name="Citável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Citável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áv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TM03457503[[fn=Citável]]</Template>
  <TotalTime>71</TotalTime>
  <Words>350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2</vt:lpstr>
      <vt:lpstr>Citável</vt:lpstr>
      <vt:lpstr>Resumo de FIA</vt:lpstr>
      <vt:lpstr>1. Fundamentos da Informática e Aplicativos</vt:lpstr>
      <vt:lpstr>Apresentação do PowerPoint</vt:lpstr>
      <vt:lpstr>Apresentação do PowerPoint</vt:lpstr>
      <vt:lpstr>Apresentação do PowerPoint</vt:lpstr>
      <vt:lpstr>2. Sistemas Operacionais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Willian Raphael Carvalho Da Silva</dc:creator>
  <cp:lastModifiedBy>Willian Raphael Carvalho Da Silva</cp:lastModifiedBy>
  <cp:revision>9</cp:revision>
  <dcterms:created xsi:type="dcterms:W3CDTF">2026-05-23T00:26:59Z</dcterms:created>
  <dcterms:modified xsi:type="dcterms:W3CDTF">2026-05-23T01:38:56Z</dcterms:modified>
</cp:coreProperties>
</file>