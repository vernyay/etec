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1" d="100"/>
          <a:sy n="91" d="100"/>
        </p:scale>
        <p:origin x="5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6798FC-793A-48CC-887C-ACB915679E5B}" type="doc">
      <dgm:prSet loTypeId="urn:microsoft.com/office/officeart/2005/8/layout/process1" loCatId="process" qsTypeId="urn:microsoft.com/office/officeart/2005/8/quickstyle/simple1" qsCatId="simple" csTypeId="urn:microsoft.com/office/officeart/2005/8/colors/accent1_2" csCatId="accent1" phldr="1"/>
      <dgm:spPr/>
    </dgm:pt>
    <dgm:pt modelId="{08686944-166F-46D4-B46A-534BAAC78B1A}">
      <dgm:prSet phldrT="[Texto]"/>
      <dgm:spPr/>
      <dgm:t>
        <a:bodyPr/>
        <a:lstStyle/>
        <a:p>
          <a:r>
            <a:rPr lang="pt-BR" dirty="0" smtClean="0"/>
            <a:t>Maior Eficiência e Produtividade</a:t>
          </a:r>
          <a:endParaRPr lang="pt-BR" dirty="0"/>
        </a:p>
      </dgm:t>
    </dgm:pt>
    <dgm:pt modelId="{3969ED78-AB55-45E4-98C9-00E46843B4E9}" type="parTrans" cxnId="{5B51324A-6B7E-4E0B-94DC-E6175223583F}">
      <dgm:prSet/>
      <dgm:spPr/>
      <dgm:t>
        <a:bodyPr/>
        <a:lstStyle/>
        <a:p>
          <a:endParaRPr lang="pt-BR"/>
        </a:p>
      </dgm:t>
    </dgm:pt>
    <dgm:pt modelId="{C0E8684A-6E6E-40B2-8F8F-7F7D7A46BAA2}" type="sibTrans" cxnId="{5B51324A-6B7E-4E0B-94DC-E6175223583F}">
      <dgm:prSet/>
      <dgm:spPr/>
      <dgm:t>
        <a:bodyPr/>
        <a:lstStyle/>
        <a:p>
          <a:endParaRPr lang="pt-BR"/>
        </a:p>
      </dgm:t>
    </dgm:pt>
    <dgm:pt modelId="{05D1CE5A-D4F4-486C-ADA9-1BC552BF6D9B}">
      <dgm:prSet phldrT="[Texto]"/>
      <dgm:spPr/>
      <dgm:t>
        <a:bodyPr/>
        <a:lstStyle/>
        <a:p>
          <a:r>
            <a:rPr lang="pt-BR" dirty="0" smtClean="0"/>
            <a:t>Decisões Mais Assertivas</a:t>
          </a:r>
          <a:endParaRPr lang="pt-BR" dirty="0"/>
        </a:p>
      </dgm:t>
    </dgm:pt>
    <dgm:pt modelId="{E3E893D7-8F57-4416-ACB4-EA69C764B8D6}" type="parTrans" cxnId="{85E93389-1388-4474-AFE7-76261A8AE9E0}">
      <dgm:prSet/>
      <dgm:spPr/>
      <dgm:t>
        <a:bodyPr/>
        <a:lstStyle/>
        <a:p>
          <a:endParaRPr lang="pt-BR"/>
        </a:p>
      </dgm:t>
    </dgm:pt>
    <dgm:pt modelId="{3E17E832-E9C7-403B-82DC-05777FA01DB9}" type="sibTrans" cxnId="{85E93389-1388-4474-AFE7-76261A8AE9E0}">
      <dgm:prSet/>
      <dgm:spPr/>
      <dgm:t>
        <a:bodyPr/>
        <a:lstStyle/>
        <a:p>
          <a:endParaRPr lang="pt-BR"/>
        </a:p>
      </dgm:t>
    </dgm:pt>
    <dgm:pt modelId="{EAB45771-FA29-483E-BB86-5CE5266ECB43}">
      <dgm:prSet phldrT="[Texto]"/>
      <dgm:spPr/>
      <dgm:t>
        <a:bodyPr/>
        <a:lstStyle/>
        <a:p>
          <a:r>
            <a:rPr lang="pt-BR" dirty="0" smtClean="0"/>
            <a:t>Experiência do Cliente Superior</a:t>
          </a:r>
          <a:endParaRPr lang="pt-BR" dirty="0"/>
        </a:p>
      </dgm:t>
    </dgm:pt>
    <dgm:pt modelId="{CE92565D-A76D-4955-80BE-21413748E184}" type="parTrans" cxnId="{5E8C2A51-2ED0-447E-A149-8F3605B8EF18}">
      <dgm:prSet/>
      <dgm:spPr/>
      <dgm:t>
        <a:bodyPr/>
        <a:lstStyle/>
        <a:p>
          <a:endParaRPr lang="pt-BR"/>
        </a:p>
      </dgm:t>
    </dgm:pt>
    <dgm:pt modelId="{07FFE4E7-226F-4C07-80E9-DD5FC89836AD}" type="sibTrans" cxnId="{5E8C2A51-2ED0-447E-A149-8F3605B8EF18}">
      <dgm:prSet/>
      <dgm:spPr/>
      <dgm:t>
        <a:bodyPr/>
        <a:lstStyle/>
        <a:p>
          <a:endParaRPr lang="pt-BR"/>
        </a:p>
      </dgm:t>
    </dgm:pt>
    <dgm:pt modelId="{62262AB2-3F95-4EAE-A7D8-5AB6982EF1C7}">
      <dgm:prSet phldrT="[Texto]"/>
      <dgm:spPr/>
      <dgm:t>
        <a:bodyPr/>
        <a:lstStyle/>
        <a:p>
          <a:r>
            <a:rPr lang="pt-BR" dirty="0" smtClean="0"/>
            <a:t>Flexibilidade e Resiliência</a:t>
          </a:r>
          <a:endParaRPr lang="pt-BR" dirty="0"/>
        </a:p>
      </dgm:t>
    </dgm:pt>
    <dgm:pt modelId="{29DBF968-880C-4FBF-A5A9-73C158B9AFF8}" type="parTrans" cxnId="{79261592-FEDD-4578-A96F-645B650987DF}">
      <dgm:prSet/>
      <dgm:spPr/>
      <dgm:t>
        <a:bodyPr/>
        <a:lstStyle/>
        <a:p>
          <a:endParaRPr lang="pt-BR"/>
        </a:p>
      </dgm:t>
    </dgm:pt>
    <dgm:pt modelId="{EA384EFB-9AB1-4B59-9C02-D7F78A64E561}" type="sibTrans" cxnId="{79261592-FEDD-4578-A96F-645B650987DF}">
      <dgm:prSet/>
      <dgm:spPr/>
      <dgm:t>
        <a:bodyPr/>
        <a:lstStyle/>
        <a:p>
          <a:endParaRPr lang="pt-BR"/>
        </a:p>
      </dgm:t>
    </dgm:pt>
    <dgm:pt modelId="{D73D7793-B826-4759-9C2F-EC819A6B3478}" type="pres">
      <dgm:prSet presAssocID="{AD6798FC-793A-48CC-887C-ACB915679E5B}" presName="Name0" presStyleCnt="0">
        <dgm:presLayoutVars>
          <dgm:dir/>
          <dgm:resizeHandles val="exact"/>
        </dgm:presLayoutVars>
      </dgm:prSet>
      <dgm:spPr/>
    </dgm:pt>
    <dgm:pt modelId="{3642712D-CFEA-4238-919A-F9DD04FCC2A4}" type="pres">
      <dgm:prSet presAssocID="{08686944-166F-46D4-B46A-534BAAC78B1A}" presName="node" presStyleLbl="node1" presStyleIdx="0" presStyleCnt="4">
        <dgm:presLayoutVars>
          <dgm:bulletEnabled val="1"/>
        </dgm:presLayoutVars>
      </dgm:prSet>
      <dgm:spPr/>
      <dgm:t>
        <a:bodyPr/>
        <a:lstStyle/>
        <a:p>
          <a:endParaRPr lang="pt-BR"/>
        </a:p>
      </dgm:t>
    </dgm:pt>
    <dgm:pt modelId="{C03CF0A4-645D-4F9D-98BA-216F3F11FF65}" type="pres">
      <dgm:prSet presAssocID="{C0E8684A-6E6E-40B2-8F8F-7F7D7A46BAA2}" presName="sibTrans" presStyleLbl="sibTrans2D1" presStyleIdx="0" presStyleCnt="3"/>
      <dgm:spPr/>
    </dgm:pt>
    <dgm:pt modelId="{7038FDA2-6009-4F07-B66F-7CBED39501D7}" type="pres">
      <dgm:prSet presAssocID="{C0E8684A-6E6E-40B2-8F8F-7F7D7A46BAA2}" presName="connectorText" presStyleLbl="sibTrans2D1" presStyleIdx="0" presStyleCnt="3"/>
      <dgm:spPr/>
    </dgm:pt>
    <dgm:pt modelId="{EF7A0449-5E7F-4A3B-824D-6280202B07AE}" type="pres">
      <dgm:prSet presAssocID="{05D1CE5A-D4F4-486C-ADA9-1BC552BF6D9B}" presName="node" presStyleLbl="node1" presStyleIdx="1" presStyleCnt="4">
        <dgm:presLayoutVars>
          <dgm:bulletEnabled val="1"/>
        </dgm:presLayoutVars>
      </dgm:prSet>
      <dgm:spPr/>
      <dgm:t>
        <a:bodyPr/>
        <a:lstStyle/>
        <a:p>
          <a:endParaRPr lang="pt-BR"/>
        </a:p>
      </dgm:t>
    </dgm:pt>
    <dgm:pt modelId="{2E3E4565-191F-4259-98CC-A7350549EEEC}" type="pres">
      <dgm:prSet presAssocID="{3E17E832-E9C7-403B-82DC-05777FA01DB9}" presName="sibTrans" presStyleLbl="sibTrans2D1" presStyleIdx="1" presStyleCnt="3"/>
      <dgm:spPr/>
    </dgm:pt>
    <dgm:pt modelId="{CA458F8A-A3D2-46E8-A9DC-2C1A387BF533}" type="pres">
      <dgm:prSet presAssocID="{3E17E832-E9C7-403B-82DC-05777FA01DB9}" presName="connectorText" presStyleLbl="sibTrans2D1" presStyleIdx="1" presStyleCnt="3"/>
      <dgm:spPr/>
    </dgm:pt>
    <dgm:pt modelId="{3928E9DF-68C2-4C3C-8437-073F4E1AC2DA}" type="pres">
      <dgm:prSet presAssocID="{EAB45771-FA29-483E-BB86-5CE5266ECB43}" presName="node" presStyleLbl="node1" presStyleIdx="2" presStyleCnt="4">
        <dgm:presLayoutVars>
          <dgm:bulletEnabled val="1"/>
        </dgm:presLayoutVars>
      </dgm:prSet>
      <dgm:spPr/>
      <dgm:t>
        <a:bodyPr/>
        <a:lstStyle/>
        <a:p>
          <a:endParaRPr lang="pt-BR"/>
        </a:p>
      </dgm:t>
    </dgm:pt>
    <dgm:pt modelId="{AC7A1D13-C2A8-4BC3-9E8A-A946AAE9CB32}" type="pres">
      <dgm:prSet presAssocID="{07FFE4E7-226F-4C07-80E9-DD5FC89836AD}" presName="sibTrans" presStyleLbl="sibTrans2D1" presStyleIdx="2" presStyleCnt="3"/>
      <dgm:spPr/>
    </dgm:pt>
    <dgm:pt modelId="{0A6C55CA-5C38-41AA-8698-48B4C19F2BF0}" type="pres">
      <dgm:prSet presAssocID="{07FFE4E7-226F-4C07-80E9-DD5FC89836AD}" presName="connectorText" presStyleLbl="sibTrans2D1" presStyleIdx="2" presStyleCnt="3"/>
      <dgm:spPr/>
    </dgm:pt>
    <dgm:pt modelId="{92A0386D-941C-49F1-9204-D200FF38B8A9}" type="pres">
      <dgm:prSet presAssocID="{62262AB2-3F95-4EAE-A7D8-5AB6982EF1C7}" presName="node" presStyleLbl="node1" presStyleIdx="3" presStyleCnt="4">
        <dgm:presLayoutVars>
          <dgm:bulletEnabled val="1"/>
        </dgm:presLayoutVars>
      </dgm:prSet>
      <dgm:spPr/>
      <dgm:t>
        <a:bodyPr/>
        <a:lstStyle/>
        <a:p>
          <a:endParaRPr lang="pt-BR"/>
        </a:p>
      </dgm:t>
    </dgm:pt>
  </dgm:ptLst>
  <dgm:cxnLst>
    <dgm:cxn modelId="{685E72C7-AAB0-4050-B5CE-C80440EB06F1}" type="presOf" srcId="{C0E8684A-6E6E-40B2-8F8F-7F7D7A46BAA2}" destId="{C03CF0A4-645D-4F9D-98BA-216F3F11FF65}" srcOrd="0" destOrd="0" presId="urn:microsoft.com/office/officeart/2005/8/layout/process1"/>
    <dgm:cxn modelId="{290FBACA-ADC6-46E7-B0AD-BCE8BE07CBC5}" type="presOf" srcId="{AD6798FC-793A-48CC-887C-ACB915679E5B}" destId="{D73D7793-B826-4759-9C2F-EC819A6B3478}" srcOrd="0" destOrd="0" presId="urn:microsoft.com/office/officeart/2005/8/layout/process1"/>
    <dgm:cxn modelId="{85E93389-1388-4474-AFE7-76261A8AE9E0}" srcId="{AD6798FC-793A-48CC-887C-ACB915679E5B}" destId="{05D1CE5A-D4F4-486C-ADA9-1BC552BF6D9B}" srcOrd="1" destOrd="0" parTransId="{E3E893D7-8F57-4416-ACB4-EA69C764B8D6}" sibTransId="{3E17E832-E9C7-403B-82DC-05777FA01DB9}"/>
    <dgm:cxn modelId="{79261592-FEDD-4578-A96F-645B650987DF}" srcId="{AD6798FC-793A-48CC-887C-ACB915679E5B}" destId="{62262AB2-3F95-4EAE-A7D8-5AB6982EF1C7}" srcOrd="3" destOrd="0" parTransId="{29DBF968-880C-4FBF-A5A9-73C158B9AFF8}" sibTransId="{EA384EFB-9AB1-4B59-9C02-D7F78A64E561}"/>
    <dgm:cxn modelId="{5B51324A-6B7E-4E0B-94DC-E6175223583F}" srcId="{AD6798FC-793A-48CC-887C-ACB915679E5B}" destId="{08686944-166F-46D4-B46A-534BAAC78B1A}" srcOrd="0" destOrd="0" parTransId="{3969ED78-AB55-45E4-98C9-00E46843B4E9}" sibTransId="{C0E8684A-6E6E-40B2-8F8F-7F7D7A46BAA2}"/>
    <dgm:cxn modelId="{5E8C2A51-2ED0-447E-A149-8F3605B8EF18}" srcId="{AD6798FC-793A-48CC-887C-ACB915679E5B}" destId="{EAB45771-FA29-483E-BB86-5CE5266ECB43}" srcOrd="2" destOrd="0" parTransId="{CE92565D-A76D-4955-80BE-21413748E184}" sibTransId="{07FFE4E7-226F-4C07-80E9-DD5FC89836AD}"/>
    <dgm:cxn modelId="{BE150F27-D0B0-401F-97A3-27E0C9EF2647}" type="presOf" srcId="{07FFE4E7-226F-4C07-80E9-DD5FC89836AD}" destId="{0A6C55CA-5C38-41AA-8698-48B4C19F2BF0}" srcOrd="1" destOrd="0" presId="urn:microsoft.com/office/officeart/2005/8/layout/process1"/>
    <dgm:cxn modelId="{4234171C-4174-49B6-9E0E-D0D5FCC908DC}" type="presOf" srcId="{05D1CE5A-D4F4-486C-ADA9-1BC552BF6D9B}" destId="{EF7A0449-5E7F-4A3B-824D-6280202B07AE}" srcOrd="0" destOrd="0" presId="urn:microsoft.com/office/officeart/2005/8/layout/process1"/>
    <dgm:cxn modelId="{8DDAD7AE-D1A3-4B0C-AC0F-12B94CF3ADC9}" type="presOf" srcId="{C0E8684A-6E6E-40B2-8F8F-7F7D7A46BAA2}" destId="{7038FDA2-6009-4F07-B66F-7CBED39501D7}" srcOrd="1" destOrd="0" presId="urn:microsoft.com/office/officeart/2005/8/layout/process1"/>
    <dgm:cxn modelId="{F27CFC7B-0377-4875-9EB6-8E8646DC6770}" type="presOf" srcId="{3E17E832-E9C7-403B-82DC-05777FA01DB9}" destId="{CA458F8A-A3D2-46E8-A9DC-2C1A387BF533}" srcOrd="1" destOrd="0" presId="urn:microsoft.com/office/officeart/2005/8/layout/process1"/>
    <dgm:cxn modelId="{701663B7-9983-458E-AF60-41F0C9D4899E}" type="presOf" srcId="{62262AB2-3F95-4EAE-A7D8-5AB6982EF1C7}" destId="{92A0386D-941C-49F1-9204-D200FF38B8A9}" srcOrd="0" destOrd="0" presId="urn:microsoft.com/office/officeart/2005/8/layout/process1"/>
    <dgm:cxn modelId="{F35CE655-03EA-4AEB-BBC5-E041F2EC0435}" type="presOf" srcId="{EAB45771-FA29-483E-BB86-5CE5266ECB43}" destId="{3928E9DF-68C2-4C3C-8437-073F4E1AC2DA}" srcOrd="0" destOrd="0" presId="urn:microsoft.com/office/officeart/2005/8/layout/process1"/>
    <dgm:cxn modelId="{85468F7B-23CD-41CC-A991-2DF9AAFED13D}" type="presOf" srcId="{3E17E832-E9C7-403B-82DC-05777FA01DB9}" destId="{2E3E4565-191F-4259-98CC-A7350549EEEC}" srcOrd="0" destOrd="0" presId="urn:microsoft.com/office/officeart/2005/8/layout/process1"/>
    <dgm:cxn modelId="{CE471511-05D9-40CE-B48F-B6F00DB89218}" type="presOf" srcId="{08686944-166F-46D4-B46A-534BAAC78B1A}" destId="{3642712D-CFEA-4238-919A-F9DD04FCC2A4}" srcOrd="0" destOrd="0" presId="urn:microsoft.com/office/officeart/2005/8/layout/process1"/>
    <dgm:cxn modelId="{EBEC5A53-228B-4B03-8F46-4952FC28003E}" type="presOf" srcId="{07FFE4E7-226F-4C07-80E9-DD5FC89836AD}" destId="{AC7A1D13-C2A8-4BC3-9E8A-A946AAE9CB32}" srcOrd="0" destOrd="0" presId="urn:microsoft.com/office/officeart/2005/8/layout/process1"/>
    <dgm:cxn modelId="{93B43D2A-02B3-4286-AE3E-54020F89020A}" type="presParOf" srcId="{D73D7793-B826-4759-9C2F-EC819A6B3478}" destId="{3642712D-CFEA-4238-919A-F9DD04FCC2A4}" srcOrd="0" destOrd="0" presId="urn:microsoft.com/office/officeart/2005/8/layout/process1"/>
    <dgm:cxn modelId="{DCB3372B-9E45-428A-BB55-A9BF13D0BBBB}" type="presParOf" srcId="{D73D7793-B826-4759-9C2F-EC819A6B3478}" destId="{C03CF0A4-645D-4F9D-98BA-216F3F11FF65}" srcOrd="1" destOrd="0" presId="urn:microsoft.com/office/officeart/2005/8/layout/process1"/>
    <dgm:cxn modelId="{B73B790D-E2AE-4644-8CDB-986B845E7B87}" type="presParOf" srcId="{C03CF0A4-645D-4F9D-98BA-216F3F11FF65}" destId="{7038FDA2-6009-4F07-B66F-7CBED39501D7}" srcOrd="0" destOrd="0" presId="urn:microsoft.com/office/officeart/2005/8/layout/process1"/>
    <dgm:cxn modelId="{CEBDD2D8-89AA-4866-92F2-792EEFF50C3A}" type="presParOf" srcId="{D73D7793-B826-4759-9C2F-EC819A6B3478}" destId="{EF7A0449-5E7F-4A3B-824D-6280202B07AE}" srcOrd="2" destOrd="0" presId="urn:microsoft.com/office/officeart/2005/8/layout/process1"/>
    <dgm:cxn modelId="{83F96271-DA1E-4603-8E88-62178E39F506}" type="presParOf" srcId="{D73D7793-B826-4759-9C2F-EC819A6B3478}" destId="{2E3E4565-191F-4259-98CC-A7350549EEEC}" srcOrd="3" destOrd="0" presId="urn:microsoft.com/office/officeart/2005/8/layout/process1"/>
    <dgm:cxn modelId="{3CF4F2E7-3888-48F5-A9AC-27DF4F3163AD}" type="presParOf" srcId="{2E3E4565-191F-4259-98CC-A7350549EEEC}" destId="{CA458F8A-A3D2-46E8-A9DC-2C1A387BF533}" srcOrd="0" destOrd="0" presId="urn:microsoft.com/office/officeart/2005/8/layout/process1"/>
    <dgm:cxn modelId="{330E9076-5B1C-4087-97BF-16540FEBAF9D}" type="presParOf" srcId="{D73D7793-B826-4759-9C2F-EC819A6B3478}" destId="{3928E9DF-68C2-4C3C-8437-073F4E1AC2DA}" srcOrd="4" destOrd="0" presId="urn:microsoft.com/office/officeart/2005/8/layout/process1"/>
    <dgm:cxn modelId="{3D54AC53-26F5-4BAC-9869-C4F6FFC5E253}" type="presParOf" srcId="{D73D7793-B826-4759-9C2F-EC819A6B3478}" destId="{AC7A1D13-C2A8-4BC3-9E8A-A946AAE9CB32}" srcOrd="5" destOrd="0" presId="urn:microsoft.com/office/officeart/2005/8/layout/process1"/>
    <dgm:cxn modelId="{C681917A-1838-481E-97FD-803FC05FE33B}" type="presParOf" srcId="{AC7A1D13-C2A8-4BC3-9E8A-A946AAE9CB32}" destId="{0A6C55CA-5C38-41AA-8698-48B4C19F2BF0}" srcOrd="0" destOrd="0" presId="urn:microsoft.com/office/officeart/2005/8/layout/process1"/>
    <dgm:cxn modelId="{DF5EF033-5359-4315-9A47-957205A64101}" type="presParOf" srcId="{D73D7793-B826-4759-9C2F-EC819A6B3478}" destId="{92A0386D-941C-49F1-9204-D200FF38B8A9}"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2712D-CFEA-4238-919A-F9DD04FCC2A4}">
      <dsp:nvSpPr>
        <dsp:cNvPr id="0" name=""/>
        <dsp:cNvSpPr/>
      </dsp:nvSpPr>
      <dsp:spPr>
        <a:xfrm>
          <a:off x="4219" y="1278258"/>
          <a:ext cx="1844761" cy="110685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pt-BR" sz="2100" kern="1200" dirty="0" smtClean="0"/>
            <a:t>Maior Eficiência e Produtividade</a:t>
          </a:r>
          <a:endParaRPr lang="pt-BR" sz="2100" kern="1200" dirty="0"/>
        </a:p>
      </dsp:txBody>
      <dsp:txXfrm>
        <a:off x="36638" y="1310677"/>
        <a:ext cx="1779923" cy="1042019"/>
      </dsp:txXfrm>
    </dsp:sp>
    <dsp:sp modelId="{C03CF0A4-645D-4F9D-98BA-216F3F11FF65}">
      <dsp:nvSpPr>
        <dsp:cNvPr id="0" name=""/>
        <dsp:cNvSpPr/>
      </dsp:nvSpPr>
      <dsp:spPr>
        <a:xfrm>
          <a:off x="2033457" y="1602936"/>
          <a:ext cx="391089" cy="4575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pt-BR" sz="1700" kern="1200"/>
        </a:p>
      </dsp:txBody>
      <dsp:txXfrm>
        <a:off x="2033457" y="1694436"/>
        <a:ext cx="273762" cy="274500"/>
      </dsp:txXfrm>
    </dsp:sp>
    <dsp:sp modelId="{EF7A0449-5E7F-4A3B-824D-6280202B07AE}">
      <dsp:nvSpPr>
        <dsp:cNvPr id="0" name=""/>
        <dsp:cNvSpPr/>
      </dsp:nvSpPr>
      <dsp:spPr>
        <a:xfrm>
          <a:off x="2586885" y="1278258"/>
          <a:ext cx="1844761" cy="110685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pt-BR" sz="2100" kern="1200" dirty="0" smtClean="0"/>
            <a:t>Decisões Mais Assertivas</a:t>
          </a:r>
          <a:endParaRPr lang="pt-BR" sz="2100" kern="1200" dirty="0"/>
        </a:p>
      </dsp:txBody>
      <dsp:txXfrm>
        <a:off x="2619304" y="1310677"/>
        <a:ext cx="1779923" cy="1042019"/>
      </dsp:txXfrm>
    </dsp:sp>
    <dsp:sp modelId="{2E3E4565-191F-4259-98CC-A7350549EEEC}">
      <dsp:nvSpPr>
        <dsp:cNvPr id="0" name=""/>
        <dsp:cNvSpPr/>
      </dsp:nvSpPr>
      <dsp:spPr>
        <a:xfrm>
          <a:off x="4616123" y="1602936"/>
          <a:ext cx="391089" cy="4575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pt-BR" sz="1700" kern="1200"/>
        </a:p>
      </dsp:txBody>
      <dsp:txXfrm>
        <a:off x="4616123" y="1694436"/>
        <a:ext cx="273762" cy="274500"/>
      </dsp:txXfrm>
    </dsp:sp>
    <dsp:sp modelId="{3928E9DF-68C2-4C3C-8437-073F4E1AC2DA}">
      <dsp:nvSpPr>
        <dsp:cNvPr id="0" name=""/>
        <dsp:cNvSpPr/>
      </dsp:nvSpPr>
      <dsp:spPr>
        <a:xfrm>
          <a:off x="5169552" y="1278258"/>
          <a:ext cx="1844761" cy="110685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pt-BR" sz="2100" kern="1200" dirty="0" smtClean="0"/>
            <a:t>Experiência do Cliente Superior</a:t>
          </a:r>
          <a:endParaRPr lang="pt-BR" sz="2100" kern="1200" dirty="0"/>
        </a:p>
      </dsp:txBody>
      <dsp:txXfrm>
        <a:off x="5201971" y="1310677"/>
        <a:ext cx="1779923" cy="1042019"/>
      </dsp:txXfrm>
    </dsp:sp>
    <dsp:sp modelId="{AC7A1D13-C2A8-4BC3-9E8A-A946AAE9CB32}">
      <dsp:nvSpPr>
        <dsp:cNvPr id="0" name=""/>
        <dsp:cNvSpPr/>
      </dsp:nvSpPr>
      <dsp:spPr>
        <a:xfrm>
          <a:off x="7198790" y="1602936"/>
          <a:ext cx="391089" cy="4575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pt-BR" sz="1700" kern="1200"/>
        </a:p>
      </dsp:txBody>
      <dsp:txXfrm>
        <a:off x="7198790" y="1694436"/>
        <a:ext cx="273762" cy="274500"/>
      </dsp:txXfrm>
    </dsp:sp>
    <dsp:sp modelId="{92A0386D-941C-49F1-9204-D200FF38B8A9}">
      <dsp:nvSpPr>
        <dsp:cNvPr id="0" name=""/>
        <dsp:cNvSpPr/>
      </dsp:nvSpPr>
      <dsp:spPr>
        <a:xfrm>
          <a:off x="7752218" y="1278258"/>
          <a:ext cx="1844761" cy="1106857"/>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pt-BR" sz="2100" kern="1200" dirty="0" smtClean="0"/>
            <a:t>Flexibilidade e Resiliência</a:t>
          </a:r>
          <a:endParaRPr lang="pt-BR" sz="2100" kern="1200" dirty="0"/>
        </a:p>
      </dsp:txBody>
      <dsp:txXfrm>
        <a:off x="7784637" y="1310677"/>
        <a:ext cx="1779923" cy="104201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smtClean="0"/>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70E47A8B-0CED-45B7-87A2-1DDEEBC0A4AF}" type="datetimeFigureOut">
              <a:rPr lang="pt-BR" smtClean="0"/>
              <a:t>26/06/2026</a:t>
            </a:fld>
            <a:endParaRPr lang="pt-B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71A1F10A-2CE5-4C57-9870-37733D0A2309}" type="slidenum">
              <a:rPr lang="pt-BR" smtClean="0"/>
              <a:t>‹nº›</a:t>
            </a:fld>
            <a:endParaRPr lang="pt-B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849538935"/>
      </p:ext>
    </p:extLst>
  </p:cSld>
  <p:clrMapOvr>
    <a:overrideClrMapping bg1="lt1" tx1="dk1" bg2="lt2" tx2="dk2" accent1="accent1" accent2="accent2" accent3="accent3" accent4="accent4" accent5="accent5" accent6="accent6" hlink="hlink" folHlink="folHlink"/>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70E47A8B-0CED-45B7-87A2-1DDEEBC0A4AF}" type="datetimeFigureOut">
              <a:rPr lang="pt-BR" smtClean="0"/>
              <a:t>26/06/2026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2392962779"/>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pt-BR" smtClean="0"/>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Editar estilos de texto Mestre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70E47A8B-0CED-45B7-87A2-1DDEEBC0A4AF}" type="datetimeFigureOut">
              <a:rPr lang="pt-BR" smtClean="0"/>
              <a:t>26/06/2026</a:t>
            </a:fld>
            <a:endParaRPr lang="pt-B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71A1F10A-2CE5-4C57-9870-37733D0A2309}" type="slidenum">
              <a:rPr lang="pt-BR" smtClean="0"/>
              <a:t>‹nº›</a:t>
            </a:fld>
            <a:endParaRPr lang="pt-B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428302602"/>
      </p:ext>
    </p:extLst>
  </p:cSld>
  <p:clrMapOvr>
    <a:overrideClrMapping bg1="dk1" tx1="lt1" bg2="dk2" tx2="lt2" accent1="accent1" accent2="accent2" accent3="accent3" accent4="accent4" accent5="accent5" accent6="accent6" hlink="hlink" folHlink="folHlink"/>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smtClean="0"/>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fld id="{70E47A8B-0CED-45B7-87A2-1DDEEBC0A4AF}" type="datetimeFigureOut">
              <a:rPr lang="pt-BR" smtClean="0"/>
              <a:t>26/06/2026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315765139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smtClean="0"/>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70E47A8B-0CED-45B7-87A2-1DDEEBC0A4AF}" type="datetimeFigureOut">
              <a:rPr lang="pt-BR" smtClean="0"/>
              <a:t>26/06/2026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1784742397"/>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fld id="{70E47A8B-0CED-45B7-87A2-1DDEEBC0A4AF}" type="datetimeFigureOut">
              <a:rPr lang="pt-BR" smtClean="0"/>
              <a:t>26/06/2026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1522666366"/>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47A8B-0CED-45B7-87A2-1DDEEBC0A4AF}" type="datetimeFigureOut">
              <a:rPr lang="pt-BR" smtClean="0"/>
              <a:t>26/06/2026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187254636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smtClean="0"/>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0E47A8B-0CED-45B7-87A2-1DDEEBC0A4AF}" type="datetimeFigureOut">
              <a:rPr lang="pt-BR" smtClean="0"/>
              <a:t>26/06/2026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71A1F10A-2CE5-4C57-9870-37733D0A2309}"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1588484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0E47A8B-0CED-45B7-87A2-1DDEEBC0A4AF}" type="datetimeFigureOut">
              <a:rPr lang="pt-BR" smtClean="0"/>
              <a:t>26/06/2026</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71A1F10A-2CE5-4C57-9870-37733D0A2309}"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43195015"/>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70E47A8B-0CED-45B7-87A2-1DDEEBC0A4AF}" type="datetimeFigureOut">
              <a:rPr lang="pt-BR" smtClean="0"/>
              <a:t>26/06/2026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240299499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70E47A8B-0CED-45B7-87A2-1DDEEBC0A4AF}" type="datetimeFigureOut">
              <a:rPr lang="pt-BR" smtClean="0"/>
              <a:t>26/06/2026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1A1F10A-2CE5-4C57-9870-37733D0A2309}" type="slidenum">
              <a:rPr lang="pt-BR" smtClean="0"/>
              <a:t>‹nº›</a:t>
            </a:fld>
            <a:endParaRPr lang="pt-BR"/>
          </a:p>
        </p:txBody>
      </p:sp>
    </p:spTree>
    <p:extLst>
      <p:ext uri="{BB962C8B-B14F-4D97-AF65-F5344CB8AC3E}">
        <p14:creationId xmlns:p14="http://schemas.microsoft.com/office/powerpoint/2010/main" val="2643885338"/>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70E47A8B-0CED-45B7-87A2-1DDEEBC0A4AF}" type="datetimeFigureOut">
              <a:rPr lang="pt-BR" smtClean="0"/>
              <a:t>26/06/2026</a:t>
            </a:fld>
            <a:endParaRPr lang="pt-B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B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71A1F10A-2CE5-4C57-9870-37733D0A2309}" type="slidenum">
              <a:rPr lang="pt-BR" smtClean="0"/>
              <a:t>‹nº›</a:t>
            </a:fld>
            <a:endParaRPr lang="pt-B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30017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wipe/>
  </p:transition>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182156" y="605628"/>
            <a:ext cx="9827171" cy="3350651"/>
          </a:xfrm>
        </p:spPr>
        <p:txBody>
          <a:bodyPr/>
          <a:lstStyle/>
          <a:p>
            <a:r>
              <a:rPr lang="pt-BR" dirty="0" smtClean="0"/>
              <a:t>Transformação digital nas empresas</a:t>
            </a:r>
            <a:endParaRPr lang="pt-BR" dirty="0"/>
          </a:p>
        </p:txBody>
      </p:sp>
      <p:sp>
        <p:nvSpPr>
          <p:cNvPr id="3" name="Subtítulo 2"/>
          <p:cNvSpPr>
            <a:spLocks noGrp="1"/>
          </p:cNvSpPr>
          <p:nvPr>
            <p:ph type="subTitle" idx="1"/>
          </p:nvPr>
        </p:nvSpPr>
        <p:spPr/>
        <p:txBody>
          <a:bodyPr/>
          <a:lstStyle/>
          <a:p>
            <a:r>
              <a:rPr lang="pt-BR" dirty="0" smtClean="0"/>
              <a:t>ALUNO:WILLIAN </a:t>
            </a:r>
            <a:r>
              <a:rPr lang="pt-BR" dirty="0" err="1" smtClean="0"/>
              <a:t>RAFHAELz</a:t>
            </a:r>
            <a:endParaRPr lang="pt-BR" dirty="0"/>
          </a:p>
        </p:txBody>
      </p:sp>
    </p:spTree>
    <p:extLst>
      <p:ext uri="{BB962C8B-B14F-4D97-AF65-F5344CB8AC3E}">
        <p14:creationId xmlns:p14="http://schemas.microsoft.com/office/powerpoint/2010/main" val="1521366130"/>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Conceito</a:t>
            </a:r>
            <a:endParaRPr lang="pt-BR" dirty="0"/>
          </a:p>
        </p:txBody>
      </p:sp>
      <p:sp>
        <p:nvSpPr>
          <p:cNvPr id="3" name="Espaço Reservado para Conteúdo 2"/>
          <p:cNvSpPr>
            <a:spLocks noGrp="1"/>
          </p:cNvSpPr>
          <p:nvPr>
            <p:ph idx="1"/>
          </p:nvPr>
        </p:nvSpPr>
        <p:spPr/>
        <p:txBody>
          <a:bodyPr/>
          <a:lstStyle/>
          <a:p>
            <a:r>
              <a:rPr lang="pt-BR" dirty="0"/>
              <a:t>A </a:t>
            </a:r>
            <a:r>
              <a:rPr lang="pt-BR" b="1" dirty="0"/>
              <a:t>transformação digital</a:t>
            </a:r>
            <a:r>
              <a:rPr lang="pt-BR" dirty="0"/>
              <a:t> é a integração estratégica de tecnologias digitais em todas as áreas de uma organização ou sociedade. Mais do que apenas adotar novas ferramentas, ela representa uma mudança cultural profunda para otimizar processos, melhorar a experiência do usuário e criar novos modelos de valor e receita.</a:t>
            </a:r>
          </a:p>
        </p:txBody>
      </p:sp>
      <p:sp>
        <p:nvSpPr>
          <p:cNvPr id="4" name="Google Shape;8766;p64"/>
          <p:cNvSpPr/>
          <p:nvPr/>
        </p:nvSpPr>
        <p:spPr>
          <a:xfrm>
            <a:off x="3678621" y="765941"/>
            <a:ext cx="541283" cy="662809"/>
          </a:xfrm>
          <a:custGeom>
            <a:avLst/>
            <a:gdLst/>
            <a:ahLst/>
            <a:cxnLst/>
            <a:rect l="l" t="t" r="r" b="b"/>
            <a:pathLst>
              <a:path w="11028" h="12666" extrusionOk="0">
                <a:moveTo>
                  <a:pt x="8538" y="820"/>
                </a:moveTo>
                <a:lnTo>
                  <a:pt x="8538" y="2710"/>
                </a:lnTo>
                <a:lnTo>
                  <a:pt x="8412" y="2584"/>
                </a:lnTo>
                <a:cubicBezTo>
                  <a:pt x="8333" y="2505"/>
                  <a:pt x="8223" y="2466"/>
                  <a:pt x="8113" y="2466"/>
                </a:cubicBezTo>
                <a:cubicBezTo>
                  <a:pt x="8003" y="2466"/>
                  <a:pt x="7892" y="2505"/>
                  <a:pt x="7814" y="2584"/>
                </a:cubicBezTo>
                <a:lnTo>
                  <a:pt x="7719" y="2710"/>
                </a:lnTo>
                <a:lnTo>
                  <a:pt x="7719" y="820"/>
                </a:lnTo>
                <a:close/>
                <a:moveTo>
                  <a:pt x="10177" y="820"/>
                </a:moveTo>
                <a:lnTo>
                  <a:pt x="10177" y="9357"/>
                </a:lnTo>
                <a:lnTo>
                  <a:pt x="2458" y="9357"/>
                </a:lnTo>
                <a:lnTo>
                  <a:pt x="2458" y="820"/>
                </a:lnTo>
                <a:lnTo>
                  <a:pt x="6869" y="820"/>
                </a:lnTo>
                <a:lnTo>
                  <a:pt x="6869" y="3687"/>
                </a:lnTo>
                <a:cubicBezTo>
                  <a:pt x="6869" y="3813"/>
                  <a:pt x="6932" y="3970"/>
                  <a:pt x="7026" y="4033"/>
                </a:cubicBezTo>
                <a:cubicBezTo>
                  <a:pt x="7100" y="4093"/>
                  <a:pt x="7196" y="4124"/>
                  <a:pt x="7292" y="4124"/>
                </a:cubicBezTo>
                <a:cubicBezTo>
                  <a:pt x="7400" y="4124"/>
                  <a:pt x="7510" y="4085"/>
                  <a:pt x="7593" y="4002"/>
                </a:cubicBezTo>
                <a:lnTo>
                  <a:pt x="8129" y="3466"/>
                </a:lnTo>
                <a:lnTo>
                  <a:pt x="8664" y="3970"/>
                </a:lnTo>
                <a:cubicBezTo>
                  <a:pt x="8719" y="4024"/>
                  <a:pt x="8844" y="4102"/>
                  <a:pt x="8958" y="4102"/>
                </a:cubicBezTo>
                <a:cubicBezTo>
                  <a:pt x="8976" y="4102"/>
                  <a:pt x="8994" y="4100"/>
                  <a:pt x="9011" y="4096"/>
                </a:cubicBezTo>
                <a:cubicBezTo>
                  <a:pt x="9200" y="4033"/>
                  <a:pt x="9357" y="3876"/>
                  <a:pt x="9357" y="3687"/>
                </a:cubicBezTo>
                <a:lnTo>
                  <a:pt x="9357" y="820"/>
                </a:lnTo>
                <a:close/>
                <a:moveTo>
                  <a:pt x="1639" y="851"/>
                </a:moveTo>
                <a:lnTo>
                  <a:pt x="1639" y="9326"/>
                </a:lnTo>
                <a:cubicBezTo>
                  <a:pt x="1355" y="9326"/>
                  <a:pt x="1103" y="9389"/>
                  <a:pt x="820" y="9546"/>
                </a:cubicBezTo>
                <a:lnTo>
                  <a:pt x="820" y="2017"/>
                </a:lnTo>
                <a:cubicBezTo>
                  <a:pt x="820" y="1481"/>
                  <a:pt x="1166" y="1040"/>
                  <a:pt x="1639" y="851"/>
                </a:cubicBezTo>
                <a:close/>
                <a:moveTo>
                  <a:pt x="10145" y="10177"/>
                </a:moveTo>
                <a:lnTo>
                  <a:pt x="10145" y="11846"/>
                </a:lnTo>
                <a:lnTo>
                  <a:pt x="1639" y="11846"/>
                </a:lnTo>
                <a:cubicBezTo>
                  <a:pt x="1166" y="11846"/>
                  <a:pt x="820" y="11500"/>
                  <a:pt x="820" y="11027"/>
                </a:cubicBezTo>
                <a:cubicBezTo>
                  <a:pt x="820" y="10555"/>
                  <a:pt x="1166" y="10177"/>
                  <a:pt x="1639" y="10177"/>
                </a:cubicBezTo>
                <a:close/>
                <a:moveTo>
                  <a:pt x="1985" y="0"/>
                </a:moveTo>
                <a:cubicBezTo>
                  <a:pt x="851" y="32"/>
                  <a:pt x="0" y="946"/>
                  <a:pt x="0" y="2017"/>
                </a:cubicBezTo>
                <a:lnTo>
                  <a:pt x="0" y="11027"/>
                </a:lnTo>
                <a:cubicBezTo>
                  <a:pt x="0" y="11909"/>
                  <a:pt x="725" y="12665"/>
                  <a:pt x="1639" y="12665"/>
                </a:cubicBezTo>
                <a:lnTo>
                  <a:pt x="10618" y="12665"/>
                </a:lnTo>
                <a:cubicBezTo>
                  <a:pt x="10870" y="12665"/>
                  <a:pt x="11027" y="12476"/>
                  <a:pt x="11027" y="12224"/>
                </a:cubicBezTo>
                <a:lnTo>
                  <a:pt x="11027" y="379"/>
                </a:lnTo>
                <a:cubicBezTo>
                  <a:pt x="11027" y="189"/>
                  <a:pt x="10807" y="0"/>
                  <a:pt x="10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Image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9262" y="3888844"/>
            <a:ext cx="3682726" cy="276945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3956713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Benefícios</a:t>
            </a:r>
            <a:endParaRPr lang="pt-BR" dirty="0"/>
          </a:p>
        </p:txBody>
      </p:sp>
      <p:graphicFrame>
        <p:nvGraphicFramePr>
          <p:cNvPr id="10" name="Espaço Reservado para Conteúdo 9"/>
          <p:cNvGraphicFramePr>
            <a:graphicFrameLocks noGrp="1"/>
          </p:cNvGraphicFramePr>
          <p:nvPr>
            <p:ph idx="1"/>
            <p:extLst>
              <p:ext uri="{D42A27DB-BD31-4B8C-83A1-F6EECF244321}">
                <p14:modId xmlns:p14="http://schemas.microsoft.com/office/powerpoint/2010/main" val="1592525073"/>
              </p:ext>
            </p:extLst>
          </p:nvPr>
        </p:nvGraphicFramePr>
        <p:xfrm>
          <a:off x="1371600" y="2204026"/>
          <a:ext cx="9601200" cy="3663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oogle Shape;8424;p63"/>
          <p:cNvGrpSpPr/>
          <p:nvPr/>
        </p:nvGrpSpPr>
        <p:grpSpPr>
          <a:xfrm>
            <a:off x="4130566" y="571500"/>
            <a:ext cx="579134" cy="697483"/>
            <a:chOff x="3299850" y="238575"/>
            <a:chExt cx="427725" cy="482225"/>
          </a:xfrm>
        </p:grpSpPr>
        <p:sp>
          <p:nvSpPr>
            <p:cNvPr id="5" name="Google Shape;8425;p63"/>
            <p:cNvSpPr/>
            <p:nvPr/>
          </p:nvSpPr>
          <p:spPr>
            <a:xfrm>
              <a:off x="3299850" y="323500"/>
              <a:ext cx="427725" cy="397300"/>
            </a:xfrm>
            <a:custGeom>
              <a:avLst/>
              <a:gdLst/>
              <a:ahLst/>
              <a:cxnLst/>
              <a:rect l="l" t="t" r="r" b="b"/>
              <a:pathLst>
                <a:path w="17109" h="15892" extrusionOk="0">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 name="Google Shape;8426;p63"/>
            <p:cNvSpPr/>
            <p:nvPr/>
          </p:nvSpPr>
          <p:spPr>
            <a:xfrm>
              <a:off x="3467650" y="238575"/>
              <a:ext cx="46525" cy="56650"/>
            </a:xfrm>
            <a:custGeom>
              <a:avLst/>
              <a:gdLst/>
              <a:ahLst/>
              <a:cxnLst/>
              <a:rect l="l" t="t" r="r" b="b"/>
              <a:pathLst>
                <a:path w="1861" h="2266" extrusionOk="0">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8427;p63"/>
            <p:cNvSpPr/>
            <p:nvPr/>
          </p:nvSpPr>
          <p:spPr>
            <a:xfrm>
              <a:off x="3566675" y="238575"/>
              <a:ext cx="46525" cy="56675"/>
            </a:xfrm>
            <a:custGeom>
              <a:avLst/>
              <a:gdLst/>
              <a:ahLst/>
              <a:cxnLst/>
              <a:rect l="l" t="t" r="r" b="b"/>
              <a:pathLst>
                <a:path w="1861" h="2267" extrusionOk="0">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 name="Google Shape;8428;p63"/>
            <p:cNvSpPr/>
            <p:nvPr/>
          </p:nvSpPr>
          <p:spPr>
            <a:xfrm>
              <a:off x="361122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 name="Google Shape;8429;p63"/>
            <p:cNvSpPr/>
            <p:nvPr/>
          </p:nvSpPr>
          <p:spPr>
            <a:xfrm>
              <a:off x="341307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28300469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Exemplos</a:t>
            </a:r>
            <a:endParaRPr lang="pt-BR" dirty="0"/>
          </a:p>
        </p:txBody>
      </p:sp>
      <p:grpSp>
        <p:nvGrpSpPr>
          <p:cNvPr id="4" name="Google Shape;8826;p64"/>
          <p:cNvGrpSpPr/>
          <p:nvPr/>
        </p:nvGrpSpPr>
        <p:grpSpPr>
          <a:xfrm>
            <a:off x="3867808" y="685800"/>
            <a:ext cx="544728" cy="607723"/>
            <a:chOff x="-39783425" y="2337925"/>
            <a:chExt cx="275700" cy="318350"/>
          </a:xfrm>
        </p:grpSpPr>
        <p:sp>
          <p:nvSpPr>
            <p:cNvPr id="5" name="Google Shape;8827;p64"/>
            <p:cNvSpPr/>
            <p:nvPr/>
          </p:nvSpPr>
          <p:spPr>
            <a:xfrm>
              <a:off x="-39739325" y="2468600"/>
              <a:ext cx="194575" cy="148500"/>
            </a:xfrm>
            <a:custGeom>
              <a:avLst/>
              <a:gdLst/>
              <a:ahLst/>
              <a:cxnLst/>
              <a:rect l="l" t="t" r="r" b="b"/>
              <a:pathLst>
                <a:path w="7783" h="5940" extrusionOk="0">
                  <a:moveTo>
                    <a:pt x="6349" y="772"/>
                  </a:moveTo>
                  <a:cubicBezTo>
                    <a:pt x="6459" y="772"/>
                    <a:pt x="6570" y="812"/>
                    <a:pt x="6648" y="891"/>
                  </a:cubicBezTo>
                  <a:cubicBezTo>
                    <a:pt x="6711" y="954"/>
                    <a:pt x="6743" y="1017"/>
                    <a:pt x="6806" y="1080"/>
                  </a:cubicBezTo>
                  <a:cubicBezTo>
                    <a:pt x="6837" y="1300"/>
                    <a:pt x="6837" y="1458"/>
                    <a:pt x="6711" y="1552"/>
                  </a:cubicBezTo>
                  <a:lnTo>
                    <a:pt x="3340" y="4955"/>
                  </a:lnTo>
                  <a:cubicBezTo>
                    <a:pt x="3261" y="5033"/>
                    <a:pt x="3151" y="5073"/>
                    <a:pt x="3041" y="5073"/>
                  </a:cubicBezTo>
                  <a:cubicBezTo>
                    <a:pt x="2931" y="5073"/>
                    <a:pt x="2820" y="5033"/>
                    <a:pt x="2742" y="4955"/>
                  </a:cubicBezTo>
                  <a:lnTo>
                    <a:pt x="1040" y="3253"/>
                  </a:lnTo>
                  <a:cubicBezTo>
                    <a:pt x="883" y="3096"/>
                    <a:pt x="883" y="2812"/>
                    <a:pt x="1040" y="2655"/>
                  </a:cubicBezTo>
                  <a:lnTo>
                    <a:pt x="1135" y="2592"/>
                  </a:lnTo>
                  <a:cubicBezTo>
                    <a:pt x="1214" y="2513"/>
                    <a:pt x="1316" y="2474"/>
                    <a:pt x="1418" y="2474"/>
                  </a:cubicBezTo>
                  <a:cubicBezTo>
                    <a:pt x="1521" y="2474"/>
                    <a:pt x="1623" y="2513"/>
                    <a:pt x="1702" y="2592"/>
                  </a:cubicBezTo>
                  <a:lnTo>
                    <a:pt x="2742" y="3600"/>
                  </a:lnTo>
                  <a:cubicBezTo>
                    <a:pt x="2820" y="3679"/>
                    <a:pt x="2931" y="3718"/>
                    <a:pt x="3041" y="3718"/>
                  </a:cubicBezTo>
                  <a:cubicBezTo>
                    <a:pt x="3151" y="3718"/>
                    <a:pt x="3261" y="3679"/>
                    <a:pt x="3340" y="3600"/>
                  </a:cubicBezTo>
                  <a:lnTo>
                    <a:pt x="6050" y="891"/>
                  </a:lnTo>
                  <a:cubicBezTo>
                    <a:pt x="6128" y="812"/>
                    <a:pt x="6239" y="772"/>
                    <a:pt x="6349" y="772"/>
                  </a:cubicBezTo>
                  <a:close/>
                  <a:moveTo>
                    <a:pt x="6369" y="1"/>
                  </a:moveTo>
                  <a:cubicBezTo>
                    <a:pt x="6050" y="1"/>
                    <a:pt x="5719" y="119"/>
                    <a:pt x="5451" y="355"/>
                  </a:cubicBezTo>
                  <a:lnTo>
                    <a:pt x="3025" y="2781"/>
                  </a:lnTo>
                  <a:lnTo>
                    <a:pt x="2269" y="2025"/>
                  </a:lnTo>
                  <a:cubicBezTo>
                    <a:pt x="2040" y="1796"/>
                    <a:pt x="1742" y="1663"/>
                    <a:pt x="1421" y="1663"/>
                  </a:cubicBezTo>
                  <a:cubicBezTo>
                    <a:pt x="1256" y="1663"/>
                    <a:pt x="1085" y="1698"/>
                    <a:pt x="914" y="1773"/>
                  </a:cubicBezTo>
                  <a:cubicBezTo>
                    <a:pt x="694" y="1867"/>
                    <a:pt x="536" y="1993"/>
                    <a:pt x="473" y="2119"/>
                  </a:cubicBezTo>
                  <a:cubicBezTo>
                    <a:pt x="1" y="2592"/>
                    <a:pt x="1" y="3379"/>
                    <a:pt x="473" y="3883"/>
                  </a:cubicBezTo>
                  <a:lnTo>
                    <a:pt x="2143" y="5585"/>
                  </a:lnTo>
                  <a:cubicBezTo>
                    <a:pt x="2379" y="5821"/>
                    <a:pt x="2694" y="5939"/>
                    <a:pt x="3017" y="5939"/>
                  </a:cubicBezTo>
                  <a:cubicBezTo>
                    <a:pt x="3340" y="5939"/>
                    <a:pt x="3671" y="5821"/>
                    <a:pt x="3939" y="5585"/>
                  </a:cubicBezTo>
                  <a:lnTo>
                    <a:pt x="7310" y="2182"/>
                  </a:lnTo>
                  <a:cubicBezTo>
                    <a:pt x="7656" y="1836"/>
                    <a:pt x="7782" y="1300"/>
                    <a:pt x="7593" y="859"/>
                  </a:cubicBezTo>
                  <a:cubicBezTo>
                    <a:pt x="7467" y="575"/>
                    <a:pt x="7310" y="418"/>
                    <a:pt x="7215" y="355"/>
                  </a:cubicBezTo>
                  <a:cubicBezTo>
                    <a:pt x="6995" y="119"/>
                    <a:pt x="6688" y="1"/>
                    <a:pt x="63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828;p64"/>
            <p:cNvSpPr/>
            <p:nvPr/>
          </p:nvSpPr>
          <p:spPr>
            <a:xfrm>
              <a:off x="-39783425" y="2337925"/>
              <a:ext cx="275700" cy="318350"/>
            </a:xfrm>
            <a:custGeom>
              <a:avLst/>
              <a:gdLst/>
              <a:ahLst/>
              <a:cxnLst/>
              <a:rect l="l" t="t" r="r" b="b"/>
              <a:pathLst>
                <a:path w="11028" h="12734" extrusionOk="0">
                  <a:moveTo>
                    <a:pt x="5608" y="793"/>
                  </a:moveTo>
                  <a:cubicBezTo>
                    <a:pt x="5829" y="793"/>
                    <a:pt x="5986" y="1014"/>
                    <a:pt x="6049" y="1234"/>
                  </a:cubicBezTo>
                  <a:cubicBezTo>
                    <a:pt x="6049" y="1486"/>
                    <a:pt x="6238" y="1644"/>
                    <a:pt x="6459" y="1644"/>
                  </a:cubicBezTo>
                  <a:lnTo>
                    <a:pt x="8129" y="1644"/>
                  </a:lnTo>
                  <a:cubicBezTo>
                    <a:pt x="8349" y="1644"/>
                    <a:pt x="8507" y="1833"/>
                    <a:pt x="8570" y="2053"/>
                  </a:cubicBezTo>
                  <a:lnTo>
                    <a:pt x="8570" y="2494"/>
                  </a:lnTo>
                  <a:lnTo>
                    <a:pt x="2773" y="2494"/>
                  </a:lnTo>
                  <a:lnTo>
                    <a:pt x="2773" y="2116"/>
                  </a:lnTo>
                  <a:lnTo>
                    <a:pt x="2741" y="2116"/>
                  </a:lnTo>
                  <a:cubicBezTo>
                    <a:pt x="2741" y="1864"/>
                    <a:pt x="2930" y="1707"/>
                    <a:pt x="3119" y="1675"/>
                  </a:cubicBezTo>
                  <a:lnTo>
                    <a:pt x="4789" y="1675"/>
                  </a:lnTo>
                  <a:cubicBezTo>
                    <a:pt x="5010" y="1675"/>
                    <a:pt x="5167" y="1486"/>
                    <a:pt x="5167" y="1234"/>
                  </a:cubicBezTo>
                  <a:cubicBezTo>
                    <a:pt x="5167" y="1014"/>
                    <a:pt x="5356" y="856"/>
                    <a:pt x="5608" y="793"/>
                  </a:cubicBezTo>
                  <a:close/>
                  <a:moveTo>
                    <a:pt x="10177" y="2494"/>
                  </a:moveTo>
                  <a:lnTo>
                    <a:pt x="10177" y="11883"/>
                  </a:lnTo>
                  <a:lnTo>
                    <a:pt x="788" y="11883"/>
                  </a:lnTo>
                  <a:lnTo>
                    <a:pt x="788" y="2494"/>
                  </a:lnTo>
                  <a:lnTo>
                    <a:pt x="1891" y="2494"/>
                  </a:lnTo>
                  <a:lnTo>
                    <a:pt x="1891" y="2904"/>
                  </a:lnTo>
                  <a:cubicBezTo>
                    <a:pt x="1891" y="3125"/>
                    <a:pt x="2111" y="3314"/>
                    <a:pt x="2332" y="3314"/>
                  </a:cubicBezTo>
                  <a:lnTo>
                    <a:pt x="8948" y="3314"/>
                  </a:lnTo>
                  <a:cubicBezTo>
                    <a:pt x="9200" y="3314"/>
                    <a:pt x="9357" y="3125"/>
                    <a:pt x="9357" y="2904"/>
                  </a:cubicBezTo>
                  <a:lnTo>
                    <a:pt x="9357" y="2494"/>
                  </a:lnTo>
                  <a:close/>
                  <a:moveTo>
                    <a:pt x="5615" y="1"/>
                  </a:moveTo>
                  <a:cubicBezTo>
                    <a:pt x="5456" y="1"/>
                    <a:pt x="5293" y="33"/>
                    <a:pt x="5136" y="100"/>
                  </a:cubicBezTo>
                  <a:cubicBezTo>
                    <a:pt x="4821" y="226"/>
                    <a:pt x="4537" y="478"/>
                    <a:pt x="4474" y="856"/>
                  </a:cubicBezTo>
                  <a:lnTo>
                    <a:pt x="3151" y="856"/>
                  </a:lnTo>
                  <a:cubicBezTo>
                    <a:pt x="2647" y="856"/>
                    <a:pt x="2174" y="1203"/>
                    <a:pt x="1985" y="1675"/>
                  </a:cubicBezTo>
                  <a:lnTo>
                    <a:pt x="410" y="1675"/>
                  </a:lnTo>
                  <a:cubicBezTo>
                    <a:pt x="158" y="1675"/>
                    <a:pt x="0" y="1864"/>
                    <a:pt x="0" y="2116"/>
                  </a:cubicBezTo>
                  <a:lnTo>
                    <a:pt x="0" y="12292"/>
                  </a:lnTo>
                  <a:cubicBezTo>
                    <a:pt x="0" y="12544"/>
                    <a:pt x="221" y="12734"/>
                    <a:pt x="410" y="12734"/>
                  </a:cubicBezTo>
                  <a:lnTo>
                    <a:pt x="10618" y="12734"/>
                  </a:lnTo>
                  <a:cubicBezTo>
                    <a:pt x="10838" y="12734"/>
                    <a:pt x="11027" y="12544"/>
                    <a:pt x="11027" y="12292"/>
                  </a:cubicBezTo>
                  <a:lnTo>
                    <a:pt x="11027" y="2116"/>
                  </a:lnTo>
                  <a:cubicBezTo>
                    <a:pt x="10996" y="1864"/>
                    <a:pt x="10807" y="1675"/>
                    <a:pt x="10555" y="1675"/>
                  </a:cubicBezTo>
                  <a:lnTo>
                    <a:pt x="9263" y="1675"/>
                  </a:lnTo>
                  <a:cubicBezTo>
                    <a:pt x="9105" y="1203"/>
                    <a:pt x="8633" y="856"/>
                    <a:pt x="8097" y="856"/>
                  </a:cubicBezTo>
                  <a:lnTo>
                    <a:pt x="6774" y="856"/>
                  </a:lnTo>
                  <a:cubicBezTo>
                    <a:pt x="6606" y="328"/>
                    <a:pt x="6127" y="1"/>
                    <a:pt x="56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Rectangle 1"/>
          <p:cNvSpPr>
            <a:spLocks noGrp="1" noChangeArrowheads="1"/>
          </p:cNvSpPr>
          <p:nvPr>
            <p:ph idx="1"/>
          </p:nvPr>
        </p:nvSpPr>
        <p:spPr bwMode="auto">
          <a:xfrm>
            <a:off x="1576552" y="1830818"/>
            <a:ext cx="9911255"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800" b="1" i="0" u="none" strike="noStrike" cap="none" normalizeH="0" baseline="0" dirty="0" smtClean="0">
                <a:ln>
                  <a:noFill/>
                </a:ln>
                <a:solidFill>
                  <a:schemeClr val="tx1"/>
                </a:solidFill>
                <a:effectLst/>
              </a:rPr>
              <a:t>Operações e Atendimento ao Cliente</a:t>
            </a:r>
            <a:endParaRPr kumimoji="0" lang="pt-BR" altLang="pt-BR" sz="2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1" i="0" u="none" strike="noStrike" cap="none" normalizeH="0" baseline="0" dirty="0" smtClean="0">
                <a:ln>
                  <a:noFill/>
                </a:ln>
                <a:solidFill>
                  <a:schemeClr val="tx1"/>
                </a:solidFill>
                <a:effectLst/>
              </a:rPr>
              <a:t>Atendimento </a:t>
            </a:r>
            <a:r>
              <a:rPr kumimoji="0" lang="pt-BR" altLang="pt-BR" sz="2800" b="1" i="0" u="none" strike="noStrike" cap="none" normalizeH="0" baseline="0" dirty="0" err="1" smtClean="0">
                <a:ln>
                  <a:noFill/>
                </a:ln>
                <a:solidFill>
                  <a:schemeClr val="tx1"/>
                </a:solidFill>
                <a:effectLst/>
              </a:rPr>
              <a:t>Omnicanal</a:t>
            </a:r>
            <a:r>
              <a:rPr kumimoji="0" lang="pt-BR" altLang="pt-BR" sz="2800" b="1" i="0" u="none" strike="noStrike" cap="none" normalizeH="0" baseline="0" dirty="0" smtClean="0">
                <a:ln>
                  <a:noFill/>
                </a:ln>
                <a:solidFill>
                  <a:schemeClr val="tx1"/>
                </a:solidFill>
                <a:effectLst/>
              </a:rPr>
              <a:t>:</a:t>
            </a:r>
            <a:r>
              <a:rPr kumimoji="0" lang="pt-BR" altLang="pt-BR" sz="2800" b="0" i="0" u="none" strike="noStrike" cap="none" normalizeH="0" baseline="0" dirty="0" smtClean="0">
                <a:ln>
                  <a:noFill/>
                </a:ln>
                <a:solidFill>
                  <a:schemeClr val="tx1"/>
                </a:solidFill>
                <a:effectLst/>
              </a:rPr>
              <a:t> Integração de canais de comunicação (WhatsApp, chat no site, redes sociais) em uma única plataforma.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1" i="0" u="none" strike="noStrike" cap="none" normalizeH="0" baseline="0" dirty="0" smtClean="0">
                <a:ln>
                  <a:noFill/>
                </a:ln>
                <a:solidFill>
                  <a:schemeClr val="tx1"/>
                </a:solidFill>
                <a:effectLst/>
              </a:rPr>
              <a:t>Automação de Marketing e Vendas:</a:t>
            </a:r>
            <a:r>
              <a:rPr kumimoji="0" lang="pt-BR" altLang="pt-BR" sz="2800" b="0" i="0" u="none" strike="noStrike" cap="none" normalizeH="0" baseline="0" dirty="0" smtClean="0">
                <a:ln>
                  <a:noFill/>
                </a:ln>
                <a:solidFill>
                  <a:schemeClr val="tx1"/>
                </a:solidFill>
                <a:effectLst/>
              </a:rPr>
              <a:t> Uso de </a:t>
            </a:r>
            <a:r>
              <a:rPr kumimoji="0" lang="pt-BR" altLang="pt-BR" sz="2800" b="0" i="0" u="none" strike="noStrike" cap="none" normalizeH="0" baseline="0" dirty="0" err="1" smtClean="0">
                <a:ln>
                  <a:noFill/>
                </a:ln>
                <a:solidFill>
                  <a:schemeClr val="tx1"/>
                </a:solidFill>
                <a:effectLst/>
              </a:rPr>
              <a:t>CRMs</a:t>
            </a:r>
            <a:r>
              <a:rPr kumimoji="0" lang="pt-BR" altLang="pt-BR" sz="2800" b="0" i="0" u="none" strike="noStrike" cap="none" normalizeH="0" baseline="0" dirty="0" smtClean="0">
                <a:ln>
                  <a:noFill/>
                </a:ln>
                <a:solidFill>
                  <a:schemeClr val="tx1"/>
                </a:solidFill>
                <a:effectLst/>
              </a:rPr>
              <a:t> para entender a jornada do consumidor, antecipar necessidades e enviar ofertas altamente personalizadas.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1" i="0" u="none" strike="noStrike" cap="none" normalizeH="0" baseline="0" dirty="0" smtClean="0">
                <a:ln>
                  <a:noFill/>
                </a:ln>
                <a:solidFill>
                  <a:schemeClr val="tx1"/>
                </a:solidFill>
                <a:effectLst/>
              </a:rPr>
              <a:t>Assinatura Digital e Gestão de Documentos:</a:t>
            </a:r>
            <a:r>
              <a:rPr kumimoji="0" lang="pt-BR" altLang="pt-BR" sz="2800" b="0" i="0" u="none" strike="noStrike" cap="none" normalizeH="0" baseline="0" dirty="0" smtClean="0">
                <a:ln>
                  <a:noFill/>
                </a:ln>
                <a:solidFill>
                  <a:schemeClr val="tx1"/>
                </a:solidFill>
                <a:effectLst/>
              </a:rPr>
              <a:t> Transição do papel para contratos 100% digitais, acelerando fechamentos de negócios e reduzindo custos operacionais.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681421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Desafios</a:t>
            </a:r>
            <a:endParaRPr lang="pt-BR" dirty="0"/>
          </a:p>
        </p:txBody>
      </p:sp>
      <p:sp>
        <p:nvSpPr>
          <p:cNvPr id="3" name="Espaço Reservado para Conteúdo 2"/>
          <p:cNvSpPr>
            <a:spLocks noGrp="1"/>
          </p:cNvSpPr>
          <p:nvPr>
            <p:ph idx="1"/>
          </p:nvPr>
        </p:nvSpPr>
        <p:spPr/>
        <p:txBody>
          <a:bodyPr>
            <a:noAutofit/>
          </a:bodyPr>
          <a:lstStyle/>
          <a:p>
            <a:pPr marL="0" indent="0">
              <a:buNone/>
            </a:pPr>
            <a:r>
              <a:rPr lang="pt-BR" sz="2400" b="1" dirty="0"/>
              <a:t>Cultura e Liderança</a:t>
            </a:r>
          </a:p>
          <a:p>
            <a:r>
              <a:rPr lang="pt-BR" sz="2400" b="1" dirty="0"/>
              <a:t>Resistência à Mudança:</a:t>
            </a:r>
            <a:r>
              <a:rPr lang="pt-BR" sz="2400" dirty="0"/>
              <a:t> Colaboradores e gestores acostumados a processos tradicionais costumam hesitar em adotar novas ferramentas, exigindo uma forte gestão de mudança. </a:t>
            </a:r>
          </a:p>
          <a:p>
            <a:r>
              <a:rPr lang="pt-BR" sz="2400" b="1" dirty="0"/>
              <a:t>Falta de Visão Estratégica:</a:t>
            </a:r>
            <a:r>
              <a:rPr lang="pt-BR" sz="2400" dirty="0"/>
              <a:t> A inovação não ocorre apenas implementando </a:t>
            </a:r>
            <a:r>
              <a:rPr lang="pt-BR" sz="2400" i="1" dirty="0"/>
              <a:t>softwares</a:t>
            </a:r>
            <a:r>
              <a:rPr lang="pt-BR" sz="2400" dirty="0"/>
              <a:t>; exige líderes que alinhem os objetivos de negócios à nova realidade digital</a:t>
            </a:r>
            <a:r>
              <a:rPr lang="pt-BR" sz="2400" dirty="0" smtClean="0"/>
              <a:t>.</a:t>
            </a:r>
            <a:endParaRPr lang="pt-BR" sz="2400" dirty="0"/>
          </a:p>
          <a:p>
            <a:r>
              <a:rPr lang="pt-BR" sz="2400" b="1" dirty="0"/>
              <a:t>Defasagem de Competências:</a:t>
            </a:r>
            <a:r>
              <a:rPr lang="pt-BR" sz="2400" dirty="0"/>
              <a:t> Há uma escassez de profissionais que dominam tecnologias modernas, o que torna vital investir em treinamento corporativo constante.</a:t>
            </a:r>
          </a:p>
          <a:p>
            <a:endParaRPr lang="pt-BR" sz="2400" dirty="0"/>
          </a:p>
        </p:txBody>
      </p:sp>
      <p:grpSp>
        <p:nvGrpSpPr>
          <p:cNvPr id="4" name="Google Shape;8782;p64"/>
          <p:cNvGrpSpPr/>
          <p:nvPr/>
        </p:nvGrpSpPr>
        <p:grpSpPr>
          <a:xfrm>
            <a:off x="3693049" y="685800"/>
            <a:ext cx="595172" cy="653278"/>
            <a:chOff x="-42062025" y="2316000"/>
            <a:chExt cx="319000" cy="317700"/>
          </a:xfrm>
        </p:grpSpPr>
        <p:sp>
          <p:nvSpPr>
            <p:cNvPr id="5" name="Google Shape;8783;p64"/>
            <p:cNvSpPr/>
            <p:nvPr/>
          </p:nvSpPr>
          <p:spPr>
            <a:xfrm>
              <a:off x="-41965150" y="2477075"/>
              <a:ext cx="124475" cy="112675"/>
            </a:xfrm>
            <a:custGeom>
              <a:avLst/>
              <a:gdLst/>
              <a:ahLst/>
              <a:cxnLst/>
              <a:rect l="l" t="t" r="r" b="b"/>
              <a:pathLst>
                <a:path w="4979" h="4507" extrusionOk="0">
                  <a:moveTo>
                    <a:pt x="2521" y="1371"/>
                  </a:moveTo>
                  <a:lnTo>
                    <a:pt x="2773" y="1812"/>
                  </a:lnTo>
                  <a:cubicBezTo>
                    <a:pt x="2836" y="1938"/>
                    <a:pt x="2931" y="2001"/>
                    <a:pt x="3088" y="2064"/>
                  </a:cubicBezTo>
                  <a:lnTo>
                    <a:pt x="3592" y="2127"/>
                  </a:lnTo>
                  <a:lnTo>
                    <a:pt x="3151" y="2473"/>
                  </a:lnTo>
                  <a:cubicBezTo>
                    <a:pt x="3088" y="2568"/>
                    <a:pt x="2994" y="2725"/>
                    <a:pt x="3057" y="2851"/>
                  </a:cubicBezTo>
                  <a:lnTo>
                    <a:pt x="3120" y="3355"/>
                  </a:lnTo>
                  <a:lnTo>
                    <a:pt x="2679" y="3103"/>
                  </a:lnTo>
                  <a:cubicBezTo>
                    <a:pt x="2631" y="3072"/>
                    <a:pt x="2568" y="3056"/>
                    <a:pt x="2501" y="3056"/>
                  </a:cubicBezTo>
                  <a:cubicBezTo>
                    <a:pt x="2434" y="3056"/>
                    <a:pt x="2364" y="3072"/>
                    <a:pt x="2301" y="3103"/>
                  </a:cubicBezTo>
                  <a:lnTo>
                    <a:pt x="1860" y="3355"/>
                  </a:lnTo>
                  <a:lnTo>
                    <a:pt x="1954" y="2851"/>
                  </a:lnTo>
                  <a:cubicBezTo>
                    <a:pt x="1986" y="2725"/>
                    <a:pt x="1891" y="2568"/>
                    <a:pt x="1828" y="2473"/>
                  </a:cubicBezTo>
                  <a:lnTo>
                    <a:pt x="1481" y="2127"/>
                  </a:lnTo>
                  <a:lnTo>
                    <a:pt x="1986" y="2064"/>
                  </a:lnTo>
                  <a:cubicBezTo>
                    <a:pt x="2112" y="2064"/>
                    <a:pt x="2206" y="1938"/>
                    <a:pt x="2301" y="1812"/>
                  </a:cubicBezTo>
                  <a:lnTo>
                    <a:pt x="2521" y="1371"/>
                  </a:lnTo>
                  <a:close/>
                  <a:moveTo>
                    <a:pt x="2474" y="0"/>
                  </a:moveTo>
                  <a:cubicBezTo>
                    <a:pt x="2332" y="0"/>
                    <a:pt x="2190" y="79"/>
                    <a:pt x="2112" y="236"/>
                  </a:cubicBezTo>
                  <a:lnTo>
                    <a:pt x="1576" y="1276"/>
                  </a:lnTo>
                  <a:lnTo>
                    <a:pt x="473" y="1434"/>
                  </a:lnTo>
                  <a:cubicBezTo>
                    <a:pt x="127" y="1465"/>
                    <a:pt x="1" y="1906"/>
                    <a:pt x="253" y="2127"/>
                  </a:cubicBezTo>
                  <a:lnTo>
                    <a:pt x="1040" y="2914"/>
                  </a:lnTo>
                  <a:lnTo>
                    <a:pt x="851" y="4017"/>
                  </a:lnTo>
                  <a:cubicBezTo>
                    <a:pt x="802" y="4291"/>
                    <a:pt x="1028" y="4506"/>
                    <a:pt x="1249" y="4506"/>
                  </a:cubicBezTo>
                  <a:cubicBezTo>
                    <a:pt x="1308" y="4506"/>
                    <a:pt x="1366" y="4491"/>
                    <a:pt x="1418" y="4458"/>
                  </a:cubicBezTo>
                  <a:lnTo>
                    <a:pt x="2427" y="3954"/>
                  </a:lnTo>
                  <a:lnTo>
                    <a:pt x="3403" y="4458"/>
                  </a:lnTo>
                  <a:cubicBezTo>
                    <a:pt x="3465" y="4489"/>
                    <a:pt x="3528" y="4503"/>
                    <a:pt x="3589" y="4503"/>
                  </a:cubicBezTo>
                  <a:cubicBezTo>
                    <a:pt x="3839" y="4503"/>
                    <a:pt x="4052" y="4270"/>
                    <a:pt x="4002" y="4017"/>
                  </a:cubicBezTo>
                  <a:lnTo>
                    <a:pt x="3781" y="2914"/>
                  </a:lnTo>
                  <a:lnTo>
                    <a:pt x="4569" y="2127"/>
                  </a:lnTo>
                  <a:cubicBezTo>
                    <a:pt x="4978" y="1906"/>
                    <a:pt x="4821" y="1465"/>
                    <a:pt x="4474" y="1434"/>
                  </a:cubicBezTo>
                  <a:lnTo>
                    <a:pt x="3372" y="1276"/>
                  </a:lnTo>
                  <a:lnTo>
                    <a:pt x="2836" y="236"/>
                  </a:lnTo>
                  <a:cubicBezTo>
                    <a:pt x="2757" y="79"/>
                    <a:pt x="2616" y="0"/>
                    <a:pt x="2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784;p64"/>
            <p:cNvSpPr/>
            <p:nvPr/>
          </p:nvSpPr>
          <p:spPr>
            <a:xfrm>
              <a:off x="-42062025" y="2316000"/>
              <a:ext cx="319000" cy="317700"/>
            </a:xfrm>
            <a:custGeom>
              <a:avLst/>
              <a:gdLst/>
              <a:ahLst/>
              <a:cxnLst/>
              <a:rect l="l" t="t" r="r" b="b"/>
              <a:pathLst>
                <a:path w="12760" h="12708" extrusionOk="0">
                  <a:moveTo>
                    <a:pt x="9610" y="851"/>
                  </a:moveTo>
                  <a:lnTo>
                    <a:pt x="8129" y="2615"/>
                  </a:lnTo>
                  <a:cubicBezTo>
                    <a:pt x="8097" y="2584"/>
                    <a:pt x="8034" y="2584"/>
                    <a:pt x="7940" y="2584"/>
                  </a:cubicBezTo>
                  <a:lnTo>
                    <a:pt x="4821" y="2584"/>
                  </a:lnTo>
                  <a:cubicBezTo>
                    <a:pt x="4758" y="2584"/>
                    <a:pt x="4726" y="2584"/>
                    <a:pt x="4632" y="2615"/>
                  </a:cubicBezTo>
                  <a:lnTo>
                    <a:pt x="3183" y="851"/>
                  </a:lnTo>
                  <a:close/>
                  <a:moveTo>
                    <a:pt x="7530" y="3371"/>
                  </a:moveTo>
                  <a:lnTo>
                    <a:pt x="6396" y="4726"/>
                  </a:lnTo>
                  <a:lnTo>
                    <a:pt x="5293" y="3371"/>
                  </a:lnTo>
                  <a:close/>
                  <a:moveTo>
                    <a:pt x="10555" y="1009"/>
                  </a:moveTo>
                  <a:lnTo>
                    <a:pt x="11783" y="2237"/>
                  </a:lnTo>
                  <a:lnTo>
                    <a:pt x="8759" y="5923"/>
                  </a:lnTo>
                  <a:cubicBezTo>
                    <a:pt x="8255" y="5545"/>
                    <a:pt x="7719" y="5262"/>
                    <a:pt x="7121" y="5136"/>
                  </a:cubicBezTo>
                  <a:lnTo>
                    <a:pt x="10555" y="1009"/>
                  </a:lnTo>
                  <a:close/>
                  <a:moveTo>
                    <a:pt x="2269" y="1040"/>
                  </a:moveTo>
                  <a:lnTo>
                    <a:pt x="5703" y="5199"/>
                  </a:lnTo>
                  <a:cubicBezTo>
                    <a:pt x="5104" y="5293"/>
                    <a:pt x="4506" y="5545"/>
                    <a:pt x="4033" y="5986"/>
                  </a:cubicBezTo>
                  <a:cubicBezTo>
                    <a:pt x="3214" y="4947"/>
                    <a:pt x="1040" y="2269"/>
                    <a:pt x="1040" y="2269"/>
                  </a:cubicBezTo>
                  <a:lnTo>
                    <a:pt x="2269" y="1040"/>
                  </a:lnTo>
                  <a:close/>
                  <a:moveTo>
                    <a:pt x="6349" y="5978"/>
                  </a:moveTo>
                  <a:cubicBezTo>
                    <a:pt x="7097" y="5978"/>
                    <a:pt x="7845" y="6254"/>
                    <a:pt x="8412" y="6805"/>
                  </a:cubicBezTo>
                  <a:lnTo>
                    <a:pt x="8538" y="6932"/>
                  </a:lnTo>
                  <a:cubicBezTo>
                    <a:pt x="8633" y="7026"/>
                    <a:pt x="8727" y="7152"/>
                    <a:pt x="8822" y="7278"/>
                  </a:cubicBezTo>
                  <a:cubicBezTo>
                    <a:pt x="9452" y="8097"/>
                    <a:pt x="9484" y="9168"/>
                    <a:pt x="9137" y="10082"/>
                  </a:cubicBezTo>
                  <a:cubicBezTo>
                    <a:pt x="8662" y="11199"/>
                    <a:pt x="7524" y="11885"/>
                    <a:pt x="6358" y="11885"/>
                  </a:cubicBezTo>
                  <a:cubicBezTo>
                    <a:pt x="5978" y="11885"/>
                    <a:pt x="5595" y="11812"/>
                    <a:pt x="5230" y="11657"/>
                  </a:cubicBezTo>
                  <a:cubicBezTo>
                    <a:pt x="3340" y="10870"/>
                    <a:pt x="2805" y="8412"/>
                    <a:pt x="4159" y="6932"/>
                  </a:cubicBezTo>
                  <a:lnTo>
                    <a:pt x="4285" y="6805"/>
                  </a:lnTo>
                  <a:cubicBezTo>
                    <a:pt x="4852" y="6254"/>
                    <a:pt x="5601" y="5978"/>
                    <a:pt x="6349" y="5978"/>
                  </a:cubicBezTo>
                  <a:close/>
                  <a:moveTo>
                    <a:pt x="2269" y="0"/>
                  </a:moveTo>
                  <a:cubicBezTo>
                    <a:pt x="2143" y="0"/>
                    <a:pt x="2048" y="32"/>
                    <a:pt x="1954" y="95"/>
                  </a:cubicBezTo>
                  <a:lnTo>
                    <a:pt x="158" y="1922"/>
                  </a:lnTo>
                  <a:cubicBezTo>
                    <a:pt x="1" y="2080"/>
                    <a:pt x="1" y="2300"/>
                    <a:pt x="95" y="2458"/>
                  </a:cubicBezTo>
                  <a:lnTo>
                    <a:pt x="3372" y="6522"/>
                  </a:lnTo>
                  <a:cubicBezTo>
                    <a:pt x="1985" y="8255"/>
                    <a:pt x="2395" y="10807"/>
                    <a:pt x="4254" y="12035"/>
                  </a:cubicBezTo>
                  <a:cubicBezTo>
                    <a:pt x="4911" y="12489"/>
                    <a:pt x="5659" y="12708"/>
                    <a:pt x="6397" y="12708"/>
                  </a:cubicBezTo>
                  <a:cubicBezTo>
                    <a:pt x="7606" y="12708"/>
                    <a:pt x="8791" y="12122"/>
                    <a:pt x="9515" y="11027"/>
                  </a:cubicBezTo>
                  <a:cubicBezTo>
                    <a:pt x="10429" y="9641"/>
                    <a:pt x="10397" y="7814"/>
                    <a:pt x="9326" y="6522"/>
                  </a:cubicBezTo>
                  <a:lnTo>
                    <a:pt x="12634" y="2458"/>
                  </a:lnTo>
                  <a:cubicBezTo>
                    <a:pt x="12760" y="2300"/>
                    <a:pt x="12760" y="2080"/>
                    <a:pt x="12603" y="1922"/>
                  </a:cubicBezTo>
                  <a:lnTo>
                    <a:pt x="10775" y="95"/>
                  </a:lnTo>
                  <a:cubicBezTo>
                    <a:pt x="10712" y="32"/>
                    <a:pt x="10555" y="0"/>
                    <a:pt x="104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51481337"/>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Conclusão</a:t>
            </a:r>
            <a:endParaRPr lang="pt-BR" dirty="0"/>
          </a:p>
        </p:txBody>
      </p:sp>
      <p:sp>
        <p:nvSpPr>
          <p:cNvPr id="3" name="Espaço Reservado para Conteúdo 2"/>
          <p:cNvSpPr>
            <a:spLocks noGrp="1"/>
          </p:cNvSpPr>
          <p:nvPr>
            <p:ph idx="1"/>
          </p:nvPr>
        </p:nvSpPr>
        <p:spPr>
          <a:xfrm>
            <a:off x="1371600" y="2286000"/>
            <a:ext cx="4219903" cy="2758966"/>
          </a:xfrm>
        </p:spPr>
        <p:txBody>
          <a:bodyPr>
            <a:noAutofit/>
          </a:bodyPr>
          <a:lstStyle/>
          <a:p>
            <a:r>
              <a:rPr lang="pt-BR" sz="2800" dirty="0" smtClean="0"/>
              <a:t>Transformações Digitais são muito importantes para tudo envolvendo a tecnologia, desde a sistemas até em Empresas</a:t>
            </a:r>
            <a:endParaRPr lang="pt-BR" sz="2800" dirty="0"/>
          </a:p>
        </p:txBody>
      </p:sp>
      <p:sp>
        <p:nvSpPr>
          <p:cNvPr id="4" name="Google Shape;8754;p64"/>
          <p:cNvSpPr/>
          <p:nvPr/>
        </p:nvSpPr>
        <p:spPr>
          <a:xfrm>
            <a:off x="4088524" y="685799"/>
            <a:ext cx="599090" cy="701567"/>
          </a:xfrm>
          <a:custGeom>
            <a:avLst/>
            <a:gdLst/>
            <a:ahLst/>
            <a:cxnLst/>
            <a:rect l="l" t="t" r="r" b="b"/>
            <a:pathLst>
              <a:path w="12761" h="12653" extrusionOk="0">
                <a:moveTo>
                  <a:pt x="6396" y="866"/>
                </a:moveTo>
                <a:lnTo>
                  <a:pt x="11469" y="3796"/>
                </a:lnTo>
                <a:cubicBezTo>
                  <a:pt x="8759" y="5340"/>
                  <a:pt x="12729" y="3072"/>
                  <a:pt x="6396" y="6695"/>
                </a:cubicBezTo>
                <a:cubicBezTo>
                  <a:pt x="1" y="3072"/>
                  <a:pt x="4097" y="5403"/>
                  <a:pt x="1324" y="3796"/>
                </a:cubicBezTo>
                <a:lnTo>
                  <a:pt x="6396" y="866"/>
                </a:lnTo>
                <a:close/>
                <a:moveTo>
                  <a:pt x="10208" y="5498"/>
                </a:moveTo>
                <a:lnTo>
                  <a:pt x="10208" y="8081"/>
                </a:lnTo>
                <a:cubicBezTo>
                  <a:pt x="10177" y="8207"/>
                  <a:pt x="10051" y="8365"/>
                  <a:pt x="9925" y="8428"/>
                </a:cubicBezTo>
                <a:cubicBezTo>
                  <a:pt x="9312" y="8970"/>
                  <a:pt x="7887" y="9300"/>
                  <a:pt x="6364" y="9300"/>
                </a:cubicBezTo>
                <a:cubicBezTo>
                  <a:pt x="5852" y="9300"/>
                  <a:pt x="5329" y="9263"/>
                  <a:pt x="4821" y="9184"/>
                </a:cubicBezTo>
                <a:cubicBezTo>
                  <a:pt x="4317" y="9121"/>
                  <a:pt x="3718" y="8963"/>
                  <a:pt x="3246" y="8711"/>
                </a:cubicBezTo>
                <a:cubicBezTo>
                  <a:pt x="2994" y="8585"/>
                  <a:pt x="2584" y="8333"/>
                  <a:pt x="2584" y="8050"/>
                </a:cubicBezTo>
                <a:lnTo>
                  <a:pt x="2584" y="5498"/>
                </a:lnTo>
                <a:cubicBezTo>
                  <a:pt x="4412" y="6537"/>
                  <a:pt x="4317" y="6474"/>
                  <a:pt x="6207" y="7545"/>
                </a:cubicBezTo>
                <a:cubicBezTo>
                  <a:pt x="6255" y="7577"/>
                  <a:pt x="6318" y="7593"/>
                  <a:pt x="6385" y="7593"/>
                </a:cubicBezTo>
                <a:cubicBezTo>
                  <a:pt x="6452" y="7593"/>
                  <a:pt x="6522" y="7577"/>
                  <a:pt x="6585" y="7545"/>
                </a:cubicBezTo>
                <a:cubicBezTo>
                  <a:pt x="6617" y="7482"/>
                  <a:pt x="9925" y="5592"/>
                  <a:pt x="10208" y="5498"/>
                </a:cubicBezTo>
                <a:close/>
                <a:moveTo>
                  <a:pt x="6385" y="0"/>
                </a:moveTo>
                <a:cubicBezTo>
                  <a:pt x="6318" y="0"/>
                  <a:pt x="6255" y="16"/>
                  <a:pt x="6207" y="47"/>
                </a:cubicBezTo>
                <a:lnTo>
                  <a:pt x="284" y="3450"/>
                </a:lnTo>
                <a:cubicBezTo>
                  <a:pt x="1" y="3607"/>
                  <a:pt x="1" y="3985"/>
                  <a:pt x="284" y="4143"/>
                </a:cubicBezTo>
                <a:lnTo>
                  <a:pt x="1797" y="4962"/>
                </a:lnTo>
                <a:lnTo>
                  <a:pt x="1797" y="8018"/>
                </a:lnTo>
                <a:cubicBezTo>
                  <a:pt x="1797" y="8711"/>
                  <a:pt x="2458" y="9215"/>
                  <a:pt x="3088" y="9499"/>
                </a:cubicBezTo>
                <a:cubicBezTo>
                  <a:pt x="3994" y="9903"/>
                  <a:pt x="5215" y="10104"/>
                  <a:pt x="6430" y="10104"/>
                </a:cubicBezTo>
                <a:cubicBezTo>
                  <a:pt x="7963" y="10104"/>
                  <a:pt x="9488" y="9785"/>
                  <a:pt x="10366" y="9152"/>
                </a:cubicBezTo>
                <a:cubicBezTo>
                  <a:pt x="10776" y="8869"/>
                  <a:pt x="11091" y="8491"/>
                  <a:pt x="11091" y="8018"/>
                </a:cubicBezTo>
                <a:lnTo>
                  <a:pt x="11091" y="4962"/>
                </a:lnTo>
                <a:lnTo>
                  <a:pt x="11941" y="4490"/>
                </a:lnTo>
                <a:lnTo>
                  <a:pt x="11941" y="12208"/>
                </a:lnTo>
                <a:cubicBezTo>
                  <a:pt x="11941" y="12429"/>
                  <a:pt x="12099" y="12618"/>
                  <a:pt x="12288" y="12649"/>
                </a:cubicBezTo>
                <a:cubicBezTo>
                  <a:pt x="12306" y="12652"/>
                  <a:pt x="12325" y="12653"/>
                  <a:pt x="12343" y="12653"/>
                </a:cubicBezTo>
                <a:cubicBezTo>
                  <a:pt x="12571" y="12653"/>
                  <a:pt x="12760" y="12475"/>
                  <a:pt x="12760" y="12271"/>
                </a:cubicBezTo>
                <a:lnTo>
                  <a:pt x="12760" y="3796"/>
                </a:lnTo>
                <a:cubicBezTo>
                  <a:pt x="12729" y="3639"/>
                  <a:pt x="12666" y="3513"/>
                  <a:pt x="12508" y="3450"/>
                </a:cubicBezTo>
                <a:lnTo>
                  <a:pt x="6585" y="47"/>
                </a:lnTo>
                <a:cubicBezTo>
                  <a:pt x="6522" y="16"/>
                  <a:pt x="6452" y="0"/>
                  <a:pt x="63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77080" y="1596258"/>
            <a:ext cx="5316133" cy="332258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6683151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TM10001105[[fn=Cortar]]</Template>
  <TotalTime>21</TotalTime>
  <Words>249</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6</vt:i4>
      </vt:variant>
    </vt:vector>
  </HeadingPairs>
  <TitlesOfParts>
    <vt:vector size="9" baseType="lpstr">
      <vt:lpstr>Arial</vt:lpstr>
      <vt:lpstr>Franklin Gothic Book</vt:lpstr>
      <vt:lpstr>Crop</vt:lpstr>
      <vt:lpstr>Transformação digital nas empresas</vt:lpstr>
      <vt:lpstr>Conceito</vt:lpstr>
      <vt:lpstr>Benefícios</vt:lpstr>
      <vt:lpstr>Exemplos</vt:lpstr>
      <vt:lpstr>Desafios</vt:lpstr>
      <vt:lpstr>Conclusão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Transformação digital nas empresas</dc:title>
  <dc:creator>Willian Raphael Carvalho Da Silva</dc:creator>
  <cp:lastModifiedBy>Willian Raphael Carvalho Da Silva</cp:lastModifiedBy>
  <cp:revision>3</cp:revision>
  <dcterms:created xsi:type="dcterms:W3CDTF">2026-06-27T01:22:56Z</dcterms:created>
  <dcterms:modified xsi:type="dcterms:W3CDTF">2026-06-27T01:44:18Z</dcterms:modified>
</cp:coreProperties>
</file>