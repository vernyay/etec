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fair Display" panose="020B060402020202020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inzel" panose="020B0604020202020204" charset="0"/>
      <p:regular r:id="rId23"/>
      <p:bold r:id="rId24"/>
    </p:embeddedFont>
    <p:embeddedFont>
      <p:font typeface="Lato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180FD1-D1CC-435B-A6BC-ED6AC00BCF85}">
  <a:tblStyle styleId="{80180FD1-D1CC-435B-A6BC-ED6AC00BCF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9950" y="4214812"/>
            <a:ext cx="53721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620815" y="2252662"/>
            <a:ext cx="2950368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SCRIBA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00350" y="3367087"/>
            <a:ext cx="65913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9C8B7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Automação Inteligente de Tarefas e Gestão de Prazos Escolares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350406" y="2662237"/>
            <a:ext cx="9491186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PLANEJAMENTO ESTRATÉGICO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824162" y="3462337"/>
            <a:ext cx="65436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9C8B7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Organização e Rigor Metodológico para o Estudante Moderno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524500" y="4167187"/>
            <a:ext cx="1143000" cy="28575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3086100"/>
            <a:ext cx="3860452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0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95%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4419600"/>
            <a:ext cx="386045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8B7C"/>
                </a:solidFill>
                <a:latin typeface="Lato"/>
                <a:ea typeface="Lato"/>
                <a:cs typeface="Lato"/>
                <a:sym typeface="Lato"/>
              </a:rPr>
              <a:t>REDUÇÃO DE ATRASOS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012977" y="2238375"/>
            <a:ext cx="65979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Específico: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Automatizar a centralização e monitoramento de tarefas e leituras das plataformas escolares.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012977" y="2895600"/>
            <a:ext cx="65979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Mensurável: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Reduzir em até 95% os atrasos em entregas e diminuir em 60% o tempo diário de busca por prazos.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012977" y="3552825"/>
            <a:ext cx="65979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Atingível: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Empregando scripts leves em Python e integração segura via APIs institucionais.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012977" y="4210050"/>
            <a:ext cx="65979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Relevante: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Evita a sobrecarga de estresse e melhora o desempenho acadêmico dos estudantes.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012977" y="4867275"/>
            <a:ext cx="65979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Temporal: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Implementar, validar e homologar a ferramenta de automação em um ciclo ágil de 4 meses.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OBJETIVO DO PROJETO (SMART)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581025" y="1781175"/>
            <a:ext cx="11029950" cy="4200525"/>
          </a:xfrm>
          <a:prstGeom prst="roundRect">
            <a:avLst>
              <a:gd name="adj" fmla="val 0"/>
            </a:avLst>
          </a:prstGeom>
          <a:solidFill>
            <a:srgbClr val="1E1A1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6"/>
          <p:cNvGraphicFramePr/>
          <p:nvPr/>
        </p:nvGraphicFramePr>
        <p:xfrm>
          <a:off x="581025" y="1781175"/>
          <a:ext cx="11029925" cy="4200475"/>
        </p:xfrm>
        <a:graphic>
          <a:graphicData uri="http://schemas.openxmlformats.org/drawingml/2006/table">
            <a:tbl>
              <a:tblPr firstRow="1" bandRow="1">
                <a:noFill/>
                <a:tableStyleId>{80180FD1-D1CC-435B-A6BC-ED6AC00BCF85}</a:tableStyleId>
              </a:tblPr>
              <a:tblGrid>
                <a:gridCol w="244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Parte Interessada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Papel no Projeto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Nível de Influência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Expectativa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Estudante (Usuário Foco)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Operador do Robô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Interface fluida e centralização ágil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Pais / Responsáveis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Apoiadores / Patrocinadores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Aumento do rendimento e tranquilidade acadêmica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Desenvolvedor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Criação e Manutenção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Estabilidade operacional e segurança de dados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Professores / Orientadores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Validação de Resultados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Média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Envios pontuais e formatação sem plágio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Equipe de Suporte Acadêmico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Homologação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Baixa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Conformidade com políticas institucionais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" name="Google Shape;117;p16"/>
          <p:cNvSpPr/>
          <p:nvPr/>
        </p:nvSpPr>
        <p:spPr>
          <a:xfrm>
            <a:off x="581025" y="2595562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028652" y="2595562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398889" y="2595562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678489" y="2595562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81025" y="3167062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028652" y="3167062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398889" y="3167062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678489" y="3167062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81025" y="3995737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028652" y="3995737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398889" y="3995737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678489" y="3995737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81025" y="4567237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028652" y="4567237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398889" y="4567237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678489" y="4567237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81025" y="5138737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028652" y="5138737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398889" y="5138737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678489" y="5138737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81025" y="5967412"/>
            <a:ext cx="244762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028652" y="5967412"/>
            <a:ext cx="237023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398889" y="5967412"/>
            <a:ext cx="2279600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678489" y="5967412"/>
            <a:ext cx="3932485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STAKEHOLDERS E INFLUÊNCIAS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7462"/>
            <a:ext cx="5395912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557462"/>
            <a:ext cx="5395912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76300" y="2852737"/>
            <a:ext cx="50456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DENTRO DO ESCOPO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10337" y="2852737"/>
            <a:ext cx="50456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C8B7C"/>
                </a:solidFill>
                <a:latin typeface="Cinzel"/>
                <a:ea typeface="Cinzel"/>
                <a:cs typeface="Cinzel"/>
                <a:sym typeface="Cinzel"/>
              </a:rPr>
              <a:t>FORA DO ESCOPO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871787"/>
            <a:ext cx="20478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76300" y="3367087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Varredura de tarefas escolares nas plataformas;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76300" y="3752850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Alertas automáticos via Telegram ou e-mail;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76300" y="4138612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Geração de resumos automáticos a partir de PDFs;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76300" y="4524375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Painel de controle visual com calendário integrado.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337" y="2871787"/>
            <a:ext cx="17621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6510337" y="3367087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Resolução automática de provas ou exames;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510337" y="3752850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Submissão final sem validação humana do aluno;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10337" y="4138612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Hospedagem do sistema em servidores pagos caros;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10337" y="4524375"/>
            <a:ext cx="4805362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Substituição do aprendizado real do estudante.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3409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37957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41814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456723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3409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37957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41814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4567237"/>
            <a:ext cx="1143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ESCOPO DO PROJETO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3618"/>
            <a:ext cx="2578893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8043" y="2283618"/>
            <a:ext cx="2578893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283618"/>
            <a:ext cx="2578893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2081" y="2283618"/>
            <a:ext cx="2578893" cy="319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876300" y="3178968"/>
            <a:ext cx="20877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MOTOR DE CAPTURA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76300" y="3826668"/>
            <a:ext cx="1988343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Mecanismo responsável por ler e compilar as tarefas pendentes de plataformas institucionais.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693318" y="3178968"/>
            <a:ext cx="20877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SINTETIZADOR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693318" y="3550443"/>
            <a:ext cx="198834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Filtro inteligente para gerar resumos de capítulos extensos de livros e apostilas de aula.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510337" y="3178968"/>
            <a:ext cx="20877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MÓDULO ALERTA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510337" y="3826668"/>
            <a:ext cx="198834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Notificações diretas ao estudante para evitar qualquer perda de prazo crítico.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327356" y="3178968"/>
            <a:ext cx="20877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PLANNER CENTRAL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327356" y="3826668"/>
            <a:ext cx="1988343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Dashboard simplificado para o controle intuitivo do progresso semanal.</a:t>
            </a:r>
            <a:endParaRPr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1699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93318" y="261699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0337" y="261699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27356" y="261699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PRINCIPAIS ENTREGAS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581025" y="2452687"/>
            <a:ext cx="11029950" cy="2857500"/>
          </a:xfrm>
          <a:prstGeom prst="roundRect">
            <a:avLst>
              <a:gd name="adj" fmla="val 0"/>
            </a:avLst>
          </a:prstGeom>
          <a:solidFill>
            <a:srgbClr val="1E1A1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1" name="Google Shape;201;p19"/>
          <p:cNvGraphicFramePr/>
          <p:nvPr/>
        </p:nvGraphicFramePr>
        <p:xfrm>
          <a:off x="581025" y="2452687"/>
          <a:ext cx="11029950" cy="2857500"/>
        </p:xfrm>
        <a:graphic>
          <a:graphicData uri="http://schemas.openxmlformats.org/drawingml/2006/table">
            <a:tbl>
              <a:tblPr firstRow="1" bandRow="1">
                <a:noFill/>
                <a:tableStyleId>{80180FD1-D1CC-435B-A6BC-ED6AC00BCF85}</a:tableStyleId>
              </a:tblPr>
              <a:tblGrid>
                <a:gridCol w="578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Fase do Projeto (Automação)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Mês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Mês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Mês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5A880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Mês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Mapeamento e Engenharia de Requisitos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D1C5A9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3B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Desenvolvimento dos Web Scrapers e Robô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D1C5A9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3B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D1C5A9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3B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Integração do Sintetizador e Alertas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D1C5A9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3B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C5A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 Testes, Ajustes de Margem e Deploy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D1C5A9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ATIVO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3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2" name="Google Shape;202;p19"/>
          <p:cNvSpPr/>
          <p:nvPr/>
        </p:nvSpPr>
        <p:spPr>
          <a:xfrm>
            <a:off x="581025" y="3009900"/>
            <a:ext cx="578390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64932" y="3009900"/>
            <a:ext cx="1270248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635180" y="3009900"/>
            <a:ext cx="133007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965257" y="3009900"/>
            <a:ext cx="1315194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10280451" y="3009900"/>
            <a:ext cx="1330523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81025" y="3581400"/>
            <a:ext cx="578390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364932" y="3581400"/>
            <a:ext cx="1270248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635180" y="3581400"/>
            <a:ext cx="133007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965257" y="3581400"/>
            <a:ext cx="1315194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0280451" y="3581400"/>
            <a:ext cx="1330523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81025" y="4152900"/>
            <a:ext cx="578390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364932" y="4152900"/>
            <a:ext cx="1270248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635180" y="4152900"/>
            <a:ext cx="133007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8965257" y="4152900"/>
            <a:ext cx="1315194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0280451" y="4152900"/>
            <a:ext cx="1330523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81025" y="4724400"/>
            <a:ext cx="578390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6364932" y="4724400"/>
            <a:ext cx="1270248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7635180" y="4724400"/>
            <a:ext cx="133007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965257" y="4724400"/>
            <a:ext cx="1315194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10280451" y="4724400"/>
            <a:ext cx="1330523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81025" y="5295900"/>
            <a:ext cx="5783907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364932" y="5295900"/>
            <a:ext cx="1270248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7635180" y="5295900"/>
            <a:ext cx="1330076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965257" y="5295900"/>
            <a:ext cx="1315194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10280451" y="5295900"/>
            <a:ext cx="1330523" cy="9525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CRONOGRAMA SIMPLIFICADO (GANTT)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52662"/>
            <a:ext cx="35178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252662"/>
            <a:ext cx="35178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252662"/>
            <a:ext cx="351785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500" y="2309800"/>
            <a:ext cx="19529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9175" y="2452675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5150" y="2452675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81050" y="3929062"/>
            <a:ext cx="32736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1. INSTABILIDADE DAS APIS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81050" y="4624387"/>
            <a:ext cx="311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Resposta:</a:t>
            </a:r>
            <a:r>
              <a:rPr lang="en-US" sz="1200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Implementação de rotinas robustas de re-tentativa e notificações em caso de falhas de conexão.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4537025" y="3929062"/>
            <a:ext cx="32736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2. RESUMOS IMPRECISOS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4537025" y="4624387"/>
            <a:ext cx="311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Resposta:</a:t>
            </a:r>
            <a:r>
              <a:rPr lang="en-US" sz="1200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Aplicação de validação comparativa com referências textuais estáveis e tags de aviso.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293000" y="3929062"/>
            <a:ext cx="327369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3. ACOMODAÇÃO DO ALUNO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293000" y="4624387"/>
            <a:ext cx="311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Resposta:</a:t>
            </a:r>
            <a:r>
              <a:rPr lang="en-US" sz="1200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Mecanismo de bloqueio parcial que fomenta o estudo focado em vez do trabalho 100% autônomo.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RISCOS E MITIGAÇÃO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63500" y="2309800"/>
            <a:ext cx="1952890" cy="147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29175" y="2452675"/>
            <a:ext cx="1333498" cy="133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85150" y="2452674"/>
            <a:ext cx="1333502" cy="133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581025" y="538876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9C8B7C"/>
                </a:solidFill>
                <a:latin typeface="Lato"/>
                <a:ea typeface="Lato"/>
                <a:cs typeface="Lato"/>
                <a:sym typeface="Lato"/>
              </a:rPr>
              <a:t>Evolução projetada da taxa de aproveitamento e pontualidade acadêmica no decorrer das fases de implantação.</a:t>
            </a:r>
            <a:endParaRPr/>
          </a:p>
        </p:txBody>
      </p:sp>
      <p:pic>
        <p:nvPicPr>
          <p:cNvPr id="257" name="Google Shape;25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2643"/>
            <a:ext cx="110299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TENDÊNCIA DE DESEMPENHO ESCOLAR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0" y="581025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1343025" y="2533650"/>
            <a:ext cx="9505950" cy="151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1" u="none" strike="noStrike" cap="none">
                <a:solidFill>
                  <a:srgbClr val="E0D3B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"A tecnologia deve libertar o intelecto para as grandes investigações e reflexões, em vez de aprisioná-lo na mera burocracia dos prazos." 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4352925" y="4291607"/>
            <a:ext cx="3486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— Filosofia por trás do Scriba</a:t>
            </a:r>
            <a:endParaRPr/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0115" y="742390"/>
            <a:ext cx="1391775" cy="13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36231"/>
            <a:ext cx="5133975" cy="119538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581025" y="1526381"/>
            <a:ext cx="539067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PLANO RESUMIDO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81025" y="1993106"/>
            <a:ext cx="5133975" cy="19050"/>
          </a:xfrm>
          <a:prstGeom prst="rect">
            <a:avLst/>
          </a:prstGeom>
          <a:solidFill>
            <a:srgbClr val="4A3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581025" y="2202656"/>
            <a:ext cx="5133975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robô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Scriba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simplifica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jornada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escolar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centralizando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demandas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gerando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resumos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focados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sob </a:t>
            </a:r>
            <a:r>
              <a:rPr lang="en-US" sz="1425" b="0" i="0" u="none" strike="noStrike" cap="none" dirty="0" err="1" smtClean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cuidado</a:t>
            </a:r>
            <a:r>
              <a:rPr lang="en-US" sz="1425" b="0" i="0" u="none" strike="noStrike" cap="none" dirty="0" smtClean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do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próprio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aluno</a:t>
            </a:r>
            <a:r>
              <a:rPr lang="en-US" sz="1425" b="0" i="0" u="none" strike="noStrike" cap="none" dirty="0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78" name="Google Shape;278;p23"/>
          <p:cNvSpPr txBox="1"/>
          <p:nvPr/>
        </p:nvSpPr>
        <p:spPr>
          <a:xfrm>
            <a:off x="581025" y="3131343"/>
            <a:ext cx="51339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Projetado para harmonizar alta tecnologia com a rotina humana, garante zero atrasos em tarefas sem ferir o princípio ético do estudo.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09625" y="4326731"/>
            <a:ext cx="4714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Status do Projeto: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Pronto para Início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09625" y="4598193"/>
            <a:ext cx="4714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Escopo: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Homologado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09625" y="4869656"/>
            <a:ext cx="4714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5A880"/>
                </a:solidFill>
                <a:latin typeface="Lato"/>
                <a:ea typeface="Lato"/>
                <a:cs typeface="Lato"/>
                <a:sym typeface="Lato"/>
              </a:rPr>
              <a:t>Adoção Esperada:</a:t>
            </a:r>
            <a:r>
              <a:rPr lang="en-US" sz="1425" b="0" i="0" u="none" strike="noStrike" cap="none">
                <a:solidFill>
                  <a:srgbClr val="D1C5A9"/>
                </a:solidFill>
                <a:latin typeface="Lato"/>
                <a:ea typeface="Lato"/>
                <a:cs typeface="Lato"/>
                <a:sym typeface="Lato"/>
              </a:rPr>
              <a:t> Total segurança e estabilidade</a:t>
            </a:r>
            <a:endParaRPr/>
          </a:p>
        </p:txBody>
      </p:sp>
      <p:pic>
        <p:nvPicPr>
          <p:cNvPr id="282" name="Google Shape;282;p23"/>
          <p:cNvPicPr preferRelativeResize="0"/>
          <p:nvPr/>
        </p:nvPicPr>
        <p:blipFill rotWithShape="1">
          <a:blip r:embed="rId5">
            <a:alphaModFix/>
          </a:blip>
          <a:srcRect l="17276" r="-20295"/>
          <a:stretch/>
        </p:blipFill>
        <p:spPr>
          <a:xfrm>
            <a:off x="7003149" y="0"/>
            <a:ext cx="8811474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A2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4000738" y="2690813"/>
            <a:ext cx="41904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C5A880"/>
                </a:solidFill>
                <a:latin typeface="Cinzel"/>
                <a:ea typeface="Cinzel"/>
                <a:cs typeface="Cinzel"/>
                <a:sym typeface="Cinzel"/>
              </a:rPr>
              <a:t>DÚVIDAS?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3905250" y="3795713"/>
            <a:ext cx="4381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9C8B7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Obrigado pela honrosa atenção oferecida.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Playfair Display</vt:lpstr>
      <vt:lpstr>Arial</vt:lpstr>
      <vt:lpstr>Calibri</vt:lpstr>
      <vt:lpstr>Cinzel</vt:lpstr>
      <vt:lpstr>Lato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Willian Raphael Carvalho Da Silva</cp:lastModifiedBy>
  <cp:revision>1</cp:revision>
  <dcterms:modified xsi:type="dcterms:W3CDTF">2026-06-16T01:21:19Z</dcterms:modified>
</cp:coreProperties>
</file>